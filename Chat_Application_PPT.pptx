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1</a:t>
            </a:r>
          </a:p>
        </p:txBody>
      </p:sp>
      <p:sp>
        <p:nvSpPr>
          <p:cNvPr id="7" name="TextBox 6"/>
          <p:cNvSpPr txBox="1"/>
          <p:nvPr/>
        </p:nvSpPr>
        <p:spPr>
          <a:xfrm>
            <a:off x="1371600" y="1645920"/>
            <a:ext cx="9144000" cy="1097280"/>
          </a:xfrm>
          <a:prstGeom prst="rect">
            <a:avLst/>
          </a:prstGeom>
          <a:noFill/>
        </p:spPr>
        <p:txBody>
          <a:bodyPr wrap="square">
            <a:spAutoFit/>
          </a:bodyPr>
          <a:lstStyle/>
          <a:p>
            <a:pPr algn="ctr"/>
            <a:r>
              <a:rPr sz="4000" b="1">
                <a:solidFill>
                  <a:srgbClr val="1B365D"/>
                </a:solidFill>
                <a:latin typeface="Montserrat"/>
              </a:rPr>
              <a:t>Real Time Chat Application</a:t>
            </a:r>
          </a:p>
        </p:txBody>
      </p:sp>
      <p:sp>
        <p:nvSpPr>
          <p:cNvPr id="8" name="TextBox 7"/>
          <p:cNvSpPr txBox="1"/>
          <p:nvPr/>
        </p:nvSpPr>
        <p:spPr>
          <a:xfrm>
            <a:off x="1828800" y="2743200"/>
            <a:ext cx="8229600" cy="548640"/>
          </a:xfrm>
          <a:prstGeom prst="rect">
            <a:avLst/>
          </a:prstGeom>
          <a:noFill/>
        </p:spPr>
        <p:txBody>
          <a:bodyPr wrap="none">
            <a:spAutoFit/>
          </a:bodyPr>
          <a:lstStyle/>
          <a:p>
            <a:pPr algn="ctr"/>
            <a:r>
              <a:rPr sz="1800">
                <a:solidFill>
                  <a:srgbClr val="666666"/>
                </a:solidFill>
                <a:latin typeface="Montserrat"/>
              </a:rPr>
              <a:t>A Full-Stack Web Application for Real time communication</a:t>
            </a:r>
          </a:p>
        </p:txBody>
      </p:sp>
      <p:sp>
        <p:nvSpPr>
          <p:cNvPr id="9" name="Rectangle 8"/>
          <p:cNvSpPr/>
          <p:nvPr/>
        </p:nvSpPr>
        <p:spPr>
          <a:xfrm>
            <a:off x="2286000" y="3840480"/>
            <a:ext cx="45720" cy="8686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0" y="3840480"/>
            <a:ext cx="3474720" cy="868680"/>
          </a:xfrm>
          <a:prstGeom prst="rect">
            <a:avLst/>
          </a:prstGeom>
          <a:no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3931920"/>
            <a:ext cx="3200400" cy="274320"/>
          </a:xfrm>
          <a:prstGeom prst="rect">
            <a:avLst/>
          </a:prstGeom>
          <a:noFill/>
        </p:spPr>
        <p:txBody>
          <a:bodyPr wrap="none">
            <a:spAutoFit/>
          </a:bodyPr>
          <a:lstStyle/>
          <a:p>
            <a:r>
              <a:rPr sz="1100" b="1">
                <a:solidFill>
                  <a:srgbClr val="C00000"/>
                </a:solidFill>
                <a:latin typeface="Montserrat"/>
              </a:rPr>
              <a:t>STUDENT DETAILS</a:t>
            </a:r>
          </a:p>
        </p:txBody>
      </p:sp>
      <p:sp>
        <p:nvSpPr>
          <p:cNvPr id="12" name="TextBox 11"/>
          <p:cNvSpPr txBox="1"/>
          <p:nvPr/>
        </p:nvSpPr>
        <p:spPr>
          <a:xfrm>
            <a:off x="2468880" y="4160520"/>
            <a:ext cx="3200400" cy="228600"/>
          </a:xfrm>
          <a:prstGeom prst="rect">
            <a:avLst/>
          </a:prstGeom>
          <a:noFill/>
        </p:spPr>
        <p:txBody>
          <a:bodyPr wrap="none">
            <a:spAutoFit/>
          </a:bodyPr>
          <a:lstStyle/>
          <a:p>
            <a:r>
              <a:rPr sz="1300" b="1">
                <a:solidFill>
                  <a:srgbClr val="2D2D2D"/>
                </a:solidFill>
                <a:latin typeface="Montserrat"/>
              </a:rPr>
              <a:t>PurushothamReddy</a:t>
            </a:r>
          </a:p>
        </p:txBody>
      </p:sp>
      <p:sp>
        <p:nvSpPr>
          <p:cNvPr id="13" name="TextBox 12"/>
          <p:cNvSpPr txBox="1"/>
          <p:nvPr/>
        </p:nvSpPr>
        <p:spPr>
          <a:xfrm>
            <a:off x="2468880" y="4389120"/>
            <a:ext cx="3200400" cy="228600"/>
          </a:xfrm>
          <a:prstGeom prst="rect">
            <a:avLst/>
          </a:prstGeom>
          <a:noFill/>
        </p:spPr>
        <p:txBody>
          <a:bodyPr wrap="none">
            <a:spAutoFit/>
          </a:bodyPr>
          <a:lstStyle/>
          <a:p>
            <a:r>
              <a:rPr sz="1300" b="0">
                <a:solidFill>
                  <a:srgbClr val="2D2D2D"/>
                </a:solidFill>
                <a:latin typeface="Montserrat"/>
              </a:rPr>
              <a:t>HT. No: 23EG112D51</a:t>
            </a:r>
          </a:p>
        </p:txBody>
      </p:sp>
      <p:sp>
        <p:nvSpPr>
          <p:cNvPr id="14" name="Rectangle 13"/>
          <p:cNvSpPr/>
          <p:nvPr/>
        </p:nvSpPr>
        <p:spPr>
          <a:xfrm>
            <a:off x="6400800" y="3840480"/>
            <a:ext cx="45720" cy="8686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3840480"/>
            <a:ext cx="3474720" cy="868680"/>
          </a:xfrm>
          <a:prstGeom prst="rect">
            <a:avLst/>
          </a:prstGeom>
          <a:noFill/>
          <a:ln w="9525">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931920"/>
            <a:ext cx="3200400" cy="274320"/>
          </a:xfrm>
          <a:prstGeom prst="rect">
            <a:avLst/>
          </a:prstGeom>
          <a:noFill/>
        </p:spPr>
        <p:txBody>
          <a:bodyPr wrap="none">
            <a:spAutoFit/>
          </a:bodyPr>
          <a:lstStyle/>
          <a:p>
            <a:r>
              <a:rPr sz="1100" b="1">
                <a:solidFill>
                  <a:srgbClr val="C00000"/>
                </a:solidFill>
                <a:latin typeface="Montserrat"/>
              </a:rPr>
              <a:t>PROJECT GUIDE</a:t>
            </a:r>
          </a:p>
        </p:txBody>
      </p:sp>
      <p:sp>
        <p:nvSpPr>
          <p:cNvPr id="17" name="TextBox 16"/>
          <p:cNvSpPr txBox="1"/>
          <p:nvPr/>
        </p:nvSpPr>
        <p:spPr>
          <a:xfrm>
            <a:off x="6583680" y="4160520"/>
            <a:ext cx="3200400" cy="228600"/>
          </a:xfrm>
          <a:prstGeom prst="rect">
            <a:avLst/>
          </a:prstGeom>
          <a:noFill/>
        </p:spPr>
        <p:txBody>
          <a:bodyPr wrap="none">
            <a:spAutoFit/>
          </a:bodyPr>
          <a:lstStyle/>
          <a:p>
            <a:r>
              <a:rPr sz="1300" b="1">
                <a:solidFill>
                  <a:srgbClr val="2D2D2D"/>
                </a:solidFill>
                <a:latin typeface="Montserrat"/>
              </a:rPr>
              <a:t>Dr. Niteesha Sharma, PhD</a:t>
            </a:r>
          </a:p>
        </p:txBody>
      </p:sp>
      <p:sp>
        <p:nvSpPr>
          <p:cNvPr id="18" name="TextBox 17"/>
          <p:cNvSpPr txBox="1"/>
          <p:nvPr/>
        </p:nvSpPr>
        <p:spPr>
          <a:xfrm>
            <a:off x="6583680" y="4389120"/>
            <a:ext cx="3200400" cy="228600"/>
          </a:xfrm>
          <a:prstGeom prst="rect">
            <a:avLst/>
          </a:prstGeom>
          <a:noFill/>
        </p:spPr>
        <p:txBody>
          <a:bodyPr wrap="none">
            <a:spAutoFit/>
          </a:bodyPr>
          <a:lstStyle/>
          <a:p>
            <a:r>
              <a:rPr sz="1300" b="0">
                <a:solidFill>
                  <a:srgbClr val="2D2D2D"/>
                </a:solidFill>
                <a:latin typeface="Montserrat"/>
              </a:rPr>
              <a:t>HOD, IT Dept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2</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Abstract</a:t>
            </a:r>
          </a:p>
        </p:txBody>
      </p:sp>
      <p:sp>
        <p:nvSpPr>
          <p:cNvPr id="9" name="TextBox 8"/>
          <p:cNvSpPr txBox="1"/>
          <p:nvPr/>
        </p:nvSpPr>
        <p:spPr>
          <a:xfrm>
            <a:off x="1005840" y="1920240"/>
            <a:ext cx="9601200" cy="4114800"/>
          </a:xfrm>
          <a:prstGeom prst="rect">
            <a:avLst/>
          </a:prstGeom>
          <a:noFill/>
        </p:spPr>
        <p:txBody>
          <a:bodyPr wrap="square">
            <a:spAutoFit/>
          </a:bodyPr>
          <a:lstStyle/>
          <a:p>
            <a:pPr>
              <a:lnSpc>
                <a:spcPts val="2200"/>
              </a:lnSpc>
              <a:spcAft>
                <a:spcPts val="600"/>
              </a:spcAft>
            </a:pPr>
            <a:r>
              <a:rPr sz="1500" b="0">
                <a:solidFill>
                  <a:srgbClr val="2D2D2D"/>
                </a:solidFill>
                <a:latin typeface="Montserrat"/>
              </a:rPr>
              <a:t>The project is a full-stack real-time messaging web application built on the MERN-style stack (React, Express, Node.js, and MongoDB) that replicates core WhatsApp functionality, enabling users to exchange instant text messages, share images and files via Cloudinary, create and manage group conversations, and track online presence and message delivery status — all from a single responsive, mobile-first web dashboard powered by Socket.IO for bidirectional real-time communication.
The application implements secure JWT-based authentication, real-time typing indicators, read receipts with delivery status tracking (sent → delivered → read), group conversation management with admin controls, media sharing via Cloudinary CDN, voice message recording, in-chat message search, dark/light theme toggling, and a comprehensive notification system — deployed on Vercel (frontend), Render (backend), and MongoDB Atlas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3</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Problem Statement</a:t>
            </a:r>
          </a:p>
        </p:txBody>
      </p:sp>
      <p:sp>
        <p:nvSpPr>
          <p:cNvPr id="9" name="TextBox 8"/>
          <p:cNvSpPr txBox="1"/>
          <p:nvPr/>
        </p:nvSpPr>
        <p:spPr>
          <a:xfrm>
            <a:off x="1005840" y="1920240"/>
            <a:ext cx="9601200" cy="4114800"/>
          </a:xfrm>
          <a:prstGeom prst="rect">
            <a:avLst/>
          </a:prstGeom>
          <a:noFill/>
        </p:spPr>
        <p:txBody>
          <a:bodyPr wrap="square">
            <a:spAutoFit/>
          </a:bodyPr>
          <a:lstStyle/>
          <a:p>
            <a:pPr>
              <a:lnSpc>
                <a:spcPts val="2000"/>
              </a:lnSpc>
              <a:spcBef>
                <a:spcPts val="300"/>
              </a:spcBef>
              <a:spcAft>
                <a:spcPts val="600"/>
              </a:spcAft>
            </a:pPr>
            <a:r>
              <a:rPr sz="1300" b="1">
                <a:solidFill>
                  <a:srgbClr val="C00000"/>
                </a:solidFill>
                <a:latin typeface="Montserrat"/>
              </a:rPr>
              <a:t>▸  </a:t>
            </a:r>
            <a:r>
              <a:rPr sz="1300">
                <a:solidFill>
                  <a:srgbClr val="2D2D2D"/>
                </a:solidFill>
                <a:latin typeface="Montserrat"/>
              </a:rPr>
              <a:t>Latency in Message Delivery — Traditional HTTP request-response cycles introduce unacceptable delays. Users expect sub-second delivery with real-time typing indicators and read receipts.</a:t>
            </a:r>
          </a:p>
          <a:p>
            <a:pPr>
              <a:lnSpc>
                <a:spcPts val="2000"/>
              </a:lnSpc>
              <a:spcBef>
                <a:spcPts val="300"/>
              </a:spcBef>
              <a:spcAft>
                <a:spcPts val="600"/>
              </a:spcAft>
            </a:pPr>
            <a:r>
              <a:rPr sz="1300" b="1">
                <a:solidFill>
                  <a:srgbClr val="C00000"/>
                </a:solidFill>
                <a:latin typeface="Montserrat"/>
              </a:rPr>
              <a:t>▸  </a:t>
            </a:r>
            <a:r>
              <a:rPr sz="1300">
                <a:solidFill>
                  <a:srgbClr val="2D2D2D"/>
                </a:solidFill>
                <a:latin typeface="Montserrat"/>
              </a:rPr>
              <a:t>Lack of Real-Time Presence Tracking — Users need to know whether contacts are currently online, last active time, and whether they are typing a response.</a:t>
            </a:r>
          </a:p>
          <a:p>
            <a:pPr>
              <a:lnSpc>
                <a:spcPts val="2000"/>
              </a:lnSpc>
              <a:spcBef>
                <a:spcPts val="300"/>
              </a:spcBef>
              <a:spcAft>
                <a:spcPts val="600"/>
              </a:spcAft>
            </a:pPr>
            <a:r>
              <a:rPr sz="1300" b="1">
                <a:solidFill>
                  <a:srgbClr val="C00000"/>
                </a:solidFill>
                <a:latin typeface="Montserrat"/>
              </a:rPr>
              <a:t>▸  </a:t>
            </a:r>
            <a:r>
              <a:rPr sz="1300">
                <a:solidFill>
                  <a:srgbClr val="2D2D2D"/>
                </a:solidFill>
                <a:latin typeface="Montserrat"/>
              </a:rPr>
              <a:t>Fragmented Group Communication — Creating group conversations, managing participants, and ensuring correct unread counts requires careful schema design.</a:t>
            </a:r>
          </a:p>
          <a:p>
            <a:pPr>
              <a:lnSpc>
                <a:spcPts val="2000"/>
              </a:lnSpc>
              <a:spcBef>
                <a:spcPts val="300"/>
              </a:spcBef>
              <a:spcAft>
                <a:spcPts val="600"/>
              </a:spcAft>
            </a:pPr>
            <a:r>
              <a:rPr sz="1300" b="1">
                <a:solidFill>
                  <a:srgbClr val="C00000"/>
                </a:solidFill>
                <a:latin typeface="Montserrat"/>
              </a:rPr>
              <a:t>▸  </a:t>
            </a:r>
            <a:r>
              <a:rPr sz="1300">
                <a:solidFill>
                  <a:srgbClr val="2D2D2D"/>
                </a:solidFill>
                <a:latin typeface="Montserrat"/>
              </a:rPr>
              <a:t>File and Media Sharing Complexity — Sharing images, documents, and voice messages seamlessly with cloud storage, size limits, and preview rendering.</a:t>
            </a:r>
          </a:p>
          <a:p>
            <a:pPr>
              <a:lnSpc>
                <a:spcPts val="2000"/>
              </a:lnSpc>
              <a:spcBef>
                <a:spcPts val="300"/>
              </a:spcBef>
              <a:spcAft>
                <a:spcPts val="600"/>
              </a:spcAft>
            </a:pPr>
            <a:r>
              <a:rPr sz="1300" b="1">
                <a:solidFill>
                  <a:srgbClr val="C00000"/>
                </a:solidFill>
                <a:latin typeface="Montserrat"/>
              </a:rPr>
              <a:t>▸  </a:t>
            </a:r>
            <a:r>
              <a:rPr sz="1300">
                <a:solidFill>
                  <a:srgbClr val="2D2D2D"/>
                </a:solidFill>
                <a:latin typeface="Montserrat"/>
              </a:rPr>
              <a:t>Security Concerns — User credentials must be hashed, tokens tamper-proof, APIs rate-limited, and messages encrypted at rest.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4</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Project Objectives</a:t>
            </a:r>
          </a:p>
        </p:txBody>
      </p:sp>
      <p:sp>
        <p:nvSpPr>
          <p:cNvPr id="9" name="TextBox 8"/>
          <p:cNvSpPr txBox="1"/>
          <p:nvPr/>
        </p:nvSpPr>
        <p:spPr>
          <a:xfrm>
            <a:off x="1005840" y="1920240"/>
            <a:ext cx="9601200" cy="4114800"/>
          </a:xfrm>
          <a:prstGeom prst="rect">
            <a:avLst/>
          </a:prstGeom>
          <a:noFill/>
        </p:spPr>
        <p:txBody>
          <a:bodyPr wrap="square">
            <a:spAutoFit/>
          </a:bodyPr>
          <a:lstStyle/>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Secure user registration and login using JWT with Bcrypt password hashing and token verification middleware.</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Real-time bidirectional messaging using Socket.IO with delivery acknowledgments and read receipts (✓, ✓✓, blue ✓✓).</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Real-time presence system tracking online/offline status and "last seen" timestamps via Socket.IO events.</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Typing indicators with animated feedback and automatic timeout-based clearing.</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Complete CRUD for conversations — direct and group chats with multi-step group creation modal.</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Rich message input — text, emoji, image/document attachments (Cloudinary, 10MB), voice recording, clipboard paste.</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Message management — deletion, in-chat search with match navigation, chat clearing, conversation deletion.</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Notifications panel, profile management, dark/light theme toggle, and cloud deployment (Vercel + Render + Atlas).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5</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Architecture &amp; Tech Stack</a:t>
            </a:r>
          </a:p>
        </p:txBody>
      </p:sp>
      <p:graphicFrame>
        <p:nvGraphicFramePr>
          <p:cNvPr id="9" name="Table 8"/>
          <p:cNvGraphicFramePr>
            <a:graphicFrameLocks noGrp="1"/>
          </p:cNvGraphicFramePr>
          <p:nvPr/>
        </p:nvGraphicFramePr>
        <p:xfrm>
          <a:off x="914400" y="2011680"/>
          <a:ext cx="10058400" cy="2194560"/>
        </p:xfrm>
        <a:graphic>
          <a:graphicData uri="http://schemas.openxmlformats.org/drawingml/2006/table">
            <a:tbl>
              <a:tblPr firstRow="1" bandRow="1">
                <a:tableStyleId>{5C22544A-7EE6-4342-B048-85BDC9FD1C3A}</a:tableStyleId>
              </a:tblPr>
              <a:tblGrid>
                <a:gridCol w="2286000"/>
                <a:gridCol w="7772400"/>
              </a:tblGrid>
              <a:tr h="365760">
                <a:tc>
                  <a:txBody>
                    <a:bodyPr/>
                    <a:lstStyle/>
                    <a:p>
                      <a:r>
                        <a:rPr sz="1200" b="1">
                          <a:solidFill>
                            <a:srgbClr val="FFFFFF"/>
                          </a:solidFill>
                          <a:latin typeface="Montserrat"/>
                        </a:rPr>
                        <a:t>Layer</a:t>
                      </a:r>
                    </a:p>
                  </a:txBody>
                  <a:tcPr anchor="ctr">
                    <a:solidFill>
                      <a:srgbClr val="1B365D"/>
                    </a:solidFill>
                  </a:tcPr>
                </a:tc>
                <a:tc>
                  <a:txBody>
                    <a:bodyPr/>
                    <a:lstStyle/>
                    <a:p>
                      <a:r>
                        <a:rPr sz="1200" b="1">
                          <a:solidFill>
                            <a:srgbClr val="FFFFFF"/>
                          </a:solidFill>
                          <a:latin typeface="Montserrat"/>
                        </a:rPr>
                        <a:t>Components &amp; Technologies</a:t>
                      </a:r>
                    </a:p>
                  </a:txBody>
                  <a:tcPr anchor="ctr">
                    <a:solidFill>
                      <a:srgbClr val="1B365D"/>
                    </a:solidFill>
                  </a:tcPr>
                </a:tc>
              </a:tr>
              <a:tr h="365760">
                <a:tc>
                  <a:txBody>
                    <a:bodyPr/>
                    <a:lstStyle/>
                    <a:p>
                      <a:r>
                        <a:rPr sz="1200">
                          <a:solidFill>
                            <a:srgbClr val="2D2D2D"/>
                          </a:solidFill>
                          <a:latin typeface="Montserrat"/>
                        </a:rPr>
                        <a:t>Presentation</a:t>
                      </a:r>
                    </a:p>
                  </a:txBody>
                  <a:tcPr anchor="ctr">
                    <a:solidFill>
                      <a:srgbClr val="FFFFFF"/>
                    </a:solidFill>
                  </a:tcPr>
                </a:tc>
                <a:tc>
                  <a:txBody>
                    <a:bodyPr/>
                    <a:lstStyle/>
                    <a:p>
                      <a:r>
                        <a:rPr sz="1200">
                          <a:solidFill>
                            <a:srgbClr val="2D2D2D"/>
                          </a:solidFill>
                          <a:latin typeface="Montserrat"/>
                        </a:rPr>
                        <a:t>React 19 + Vite 8, Tailwind CSS v3, Zustand, React Router v7, Axios, CryptoJS</a:t>
                      </a:r>
                    </a:p>
                  </a:txBody>
                  <a:tcPr anchor="ctr">
                    <a:solidFill>
                      <a:srgbClr val="FFFFFF"/>
                    </a:solidFill>
                  </a:tcPr>
                </a:tc>
              </a:tr>
              <a:tr h="365760">
                <a:tc>
                  <a:txBody>
                    <a:bodyPr/>
                    <a:lstStyle/>
                    <a:p>
                      <a:r>
                        <a:rPr sz="1200">
                          <a:solidFill>
                            <a:srgbClr val="2D2D2D"/>
                          </a:solidFill>
                          <a:latin typeface="Montserrat"/>
                        </a:rPr>
                        <a:t>Application</a:t>
                      </a:r>
                    </a:p>
                  </a:txBody>
                  <a:tcPr anchor="ctr">
                    <a:solidFill>
                      <a:srgbClr val="F0F4F8"/>
                    </a:solidFill>
                  </a:tcPr>
                </a:tc>
                <a:tc>
                  <a:txBody>
                    <a:bodyPr/>
                    <a:lstStyle/>
                    <a:p>
                      <a:r>
                        <a:rPr sz="1200">
                          <a:solidFill>
                            <a:srgbClr val="2D2D2D"/>
                          </a:solidFill>
                          <a:latin typeface="Montserrat"/>
                        </a:rPr>
                        <a:t>Node.js + Express.js, Socket.IO v4, JWT Auth, CORS, Helmet.js, Rate Limiting</a:t>
                      </a:r>
                    </a:p>
                  </a:txBody>
                  <a:tcPr anchor="ctr">
                    <a:solidFill>
                      <a:srgbClr val="F0F4F8"/>
                    </a:solidFill>
                  </a:tcPr>
                </a:tc>
              </a:tr>
              <a:tr h="365760">
                <a:tc>
                  <a:txBody>
                    <a:bodyPr/>
                    <a:lstStyle/>
                    <a:p>
                      <a:r>
                        <a:rPr sz="1200">
                          <a:solidFill>
                            <a:srgbClr val="2D2D2D"/>
                          </a:solidFill>
                          <a:latin typeface="Montserrat"/>
                        </a:rPr>
                        <a:t>Data</a:t>
                      </a:r>
                    </a:p>
                  </a:txBody>
                  <a:tcPr anchor="ctr">
                    <a:solidFill>
                      <a:srgbClr val="FFFFFF"/>
                    </a:solidFill>
                  </a:tcPr>
                </a:tc>
                <a:tc>
                  <a:txBody>
                    <a:bodyPr/>
                    <a:lstStyle/>
                    <a:p>
                      <a:r>
                        <a:rPr sz="1200">
                          <a:solidFill>
                            <a:srgbClr val="2D2D2D"/>
                          </a:solidFill>
                          <a:latin typeface="Montserrat"/>
                        </a:rPr>
                        <a:t>MongoDB Atlas (Cloud NoSQL), Mongoose ODM (User, Conversation, Message schemas)</a:t>
                      </a:r>
                    </a:p>
                  </a:txBody>
                  <a:tcPr anchor="ctr">
                    <a:solidFill>
                      <a:srgbClr val="FFFFFF"/>
                    </a:solidFill>
                  </a:tcPr>
                </a:tc>
              </a:tr>
              <a:tr h="365760">
                <a:tc>
                  <a:txBody>
                    <a:bodyPr/>
                    <a:lstStyle/>
                    <a:p>
                      <a:r>
                        <a:rPr sz="1200">
                          <a:solidFill>
                            <a:srgbClr val="2D2D2D"/>
                          </a:solidFill>
                          <a:latin typeface="Montserrat"/>
                        </a:rPr>
                        <a:t>External Services</a:t>
                      </a:r>
                    </a:p>
                  </a:txBody>
                  <a:tcPr anchor="ctr">
                    <a:solidFill>
                      <a:srgbClr val="F0F4F8"/>
                    </a:solidFill>
                  </a:tcPr>
                </a:tc>
                <a:tc>
                  <a:txBody>
                    <a:bodyPr/>
                    <a:lstStyle/>
                    <a:p>
                      <a:r>
                        <a:rPr sz="1200">
                          <a:solidFill>
                            <a:srgbClr val="2D2D2D"/>
                          </a:solidFill>
                          <a:latin typeface="Montserrat"/>
                        </a:rPr>
                        <a:t>Cloudinary CDN for image, file, and voice message uploads</a:t>
                      </a:r>
                    </a:p>
                  </a:txBody>
                  <a:tcPr anchor="ctr">
                    <a:solidFill>
                      <a:srgbClr val="F0F4F8"/>
                    </a:solidFill>
                  </a:tcPr>
                </a:tc>
              </a:tr>
              <a:tr h="365760">
                <a:tc>
                  <a:txBody>
                    <a:bodyPr/>
                    <a:lstStyle/>
                    <a:p>
                      <a:r>
                        <a:rPr sz="1200">
                          <a:solidFill>
                            <a:srgbClr val="2D2D2D"/>
                          </a:solidFill>
                          <a:latin typeface="Montserrat"/>
                        </a:rPr>
                        <a:t>Deployment</a:t>
                      </a:r>
                    </a:p>
                  </a:txBody>
                  <a:tcPr anchor="ctr">
                    <a:solidFill>
                      <a:srgbClr val="FFFFFF"/>
                    </a:solidFill>
                  </a:tcPr>
                </a:tc>
                <a:tc>
                  <a:txBody>
                    <a:bodyPr/>
                    <a:lstStyle/>
                    <a:p>
                      <a:r>
                        <a:rPr sz="1200">
                          <a:solidFill>
                            <a:srgbClr val="2D2D2D"/>
                          </a:solidFill>
                          <a:latin typeface="Montserrat"/>
                        </a:rPr>
                        <a:t>Frontend → Vercel  |  Backend → Render  |  Database → MongoDB Atlas</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6</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Literature Survey</a:t>
            </a:r>
          </a:p>
        </p:txBody>
      </p:sp>
      <p:graphicFrame>
        <p:nvGraphicFramePr>
          <p:cNvPr id="9" name="Table 8"/>
          <p:cNvGraphicFramePr>
            <a:graphicFrameLocks noGrp="1"/>
          </p:cNvGraphicFramePr>
          <p:nvPr/>
        </p:nvGraphicFramePr>
        <p:xfrm>
          <a:off x="457200" y="1920240"/>
          <a:ext cx="10515600" cy="4023360"/>
        </p:xfrm>
        <a:graphic>
          <a:graphicData uri="http://schemas.openxmlformats.org/drawingml/2006/table">
            <a:tbl>
              <a:tblPr firstRow="1" bandRow="1">
                <a:tableStyleId>{5C22544A-7EE6-4342-B048-85BDC9FD1C3A}</a:tableStyleId>
              </a:tblPr>
              <a:tblGrid>
                <a:gridCol w="457200"/>
                <a:gridCol w="2286000"/>
                <a:gridCol w="2743200"/>
                <a:gridCol w="5029200"/>
              </a:tblGrid>
              <a:tr h="365760">
                <a:tc>
                  <a:txBody>
                    <a:bodyPr/>
                    <a:lstStyle/>
                    <a:p>
                      <a:r>
                        <a:rPr sz="1000" b="1">
                          <a:solidFill>
                            <a:srgbClr val="FFFFFF"/>
                          </a:solidFill>
                          <a:latin typeface="Montserrat"/>
                        </a:rPr>
                        <a:t>#</a:t>
                      </a:r>
                    </a:p>
                  </a:txBody>
                  <a:tcPr anchor="ctr">
                    <a:solidFill>
                      <a:srgbClr val="1B365D"/>
                    </a:solidFill>
                  </a:tcPr>
                </a:tc>
                <a:tc>
                  <a:txBody>
                    <a:bodyPr/>
                    <a:lstStyle/>
                    <a:p>
                      <a:r>
                        <a:rPr sz="1000" b="1">
                          <a:solidFill>
                            <a:srgbClr val="FFFFFF"/>
                          </a:solidFill>
                          <a:latin typeface="Montserrat"/>
                        </a:rPr>
                        <a:t>Author(s) &amp; Year</a:t>
                      </a:r>
                    </a:p>
                  </a:txBody>
                  <a:tcPr anchor="ctr">
                    <a:solidFill>
                      <a:srgbClr val="1B365D"/>
                    </a:solidFill>
                  </a:tcPr>
                </a:tc>
                <a:tc>
                  <a:txBody>
                    <a:bodyPr/>
                    <a:lstStyle/>
                    <a:p>
                      <a:r>
                        <a:rPr sz="1000" b="1">
                          <a:solidFill>
                            <a:srgbClr val="FFFFFF"/>
                          </a:solidFill>
                          <a:latin typeface="Montserrat"/>
                        </a:rPr>
                        <a:t>Focus Area</a:t>
                      </a:r>
                    </a:p>
                  </a:txBody>
                  <a:tcPr anchor="ctr">
                    <a:solidFill>
                      <a:srgbClr val="1B365D"/>
                    </a:solidFill>
                  </a:tcPr>
                </a:tc>
                <a:tc>
                  <a:txBody>
                    <a:bodyPr/>
                    <a:lstStyle/>
                    <a:p>
                      <a:r>
                        <a:rPr sz="1000" b="1">
                          <a:solidFill>
                            <a:srgbClr val="FFFFFF"/>
                          </a:solidFill>
                          <a:latin typeface="Montserrat"/>
                        </a:rPr>
                        <a:t>Key Finding / Limitation</a:t>
                      </a:r>
                    </a:p>
                  </a:txBody>
                  <a:tcPr anchor="ctr">
                    <a:solidFill>
                      <a:srgbClr val="1B365D"/>
                    </a:solidFill>
                  </a:tcPr>
                </a:tc>
              </a:tr>
              <a:tr h="365760">
                <a:tc>
                  <a:txBody>
                    <a:bodyPr/>
                    <a:lstStyle/>
                    <a:p>
                      <a:r>
                        <a:rPr sz="1000">
                          <a:solidFill>
                            <a:srgbClr val="2D2D2D"/>
                          </a:solidFill>
                          <a:latin typeface="Montserrat"/>
                        </a:rPr>
                        <a:t>1</a:t>
                      </a:r>
                    </a:p>
                  </a:txBody>
                  <a:tcPr anchor="ctr">
                    <a:solidFill>
                      <a:srgbClr val="FFFFFF"/>
                    </a:solidFill>
                  </a:tcPr>
                </a:tc>
                <a:tc>
                  <a:txBody>
                    <a:bodyPr/>
                    <a:lstStyle/>
                    <a:p>
                      <a:r>
                        <a:rPr sz="1000">
                          <a:solidFill>
                            <a:srgbClr val="2D2D2D"/>
                          </a:solidFill>
                          <a:latin typeface="Montserrat"/>
                        </a:rPr>
                        <a:t>Patel &amp; Desai (2023)</a:t>
                      </a:r>
                    </a:p>
                  </a:txBody>
                  <a:tcPr anchor="ctr">
                    <a:solidFill>
                      <a:srgbClr val="FFFFFF"/>
                    </a:solidFill>
                  </a:tcPr>
                </a:tc>
                <a:tc>
                  <a:txBody>
                    <a:bodyPr/>
                    <a:lstStyle/>
                    <a:p>
                      <a:r>
                        <a:rPr sz="1000">
                          <a:solidFill>
                            <a:srgbClr val="2D2D2D"/>
                          </a:solidFill>
                          <a:latin typeface="Montserrat"/>
                        </a:rPr>
                        <a:t>MERN + Socket.IO Chat</a:t>
                      </a:r>
                    </a:p>
                  </a:txBody>
                  <a:tcPr anchor="ctr">
                    <a:solidFill>
                      <a:srgbClr val="FFFFFF"/>
                    </a:solidFill>
                  </a:tcPr>
                </a:tc>
                <a:tc>
                  <a:txBody>
                    <a:bodyPr/>
                    <a:lstStyle/>
                    <a:p>
                      <a:r>
                        <a:rPr sz="1000">
                          <a:solidFill>
                            <a:srgbClr val="2D2D2D"/>
                          </a:solidFill>
                          <a:latin typeface="Montserrat"/>
                        </a:rPr>
                        <a:t>Real-time messaging; lacks groups &amp; media</a:t>
                      </a:r>
                    </a:p>
                  </a:txBody>
                  <a:tcPr anchor="ctr">
                    <a:solidFill>
                      <a:srgbClr val="FFFFFF"/>
                    </a:solidFill>
                  </a:tcPr>
                </a:tc>
              </a:tr>
              <a:tr h="365760">
                <a:tc>
                  <a:txBody>
                    <a:bodyPr/>
                    <a:lstStyle/>
                    <a:p>
                      <a:r>
                        <a:rPr sz="1000">
                          <a:solidFill>
                            <a:srgbClr val="2D2D2D"/>
                          </a:solidFill>
                          <a:latin typeface="Montserrat"/>
                        </a:rPr>
                        <a:t>2</a:t>
                      </a:r>
                    </a:p>
                  </a:txBody>
                  <a:tcPr anchor="ctr">
                    <a:solidFill>
                      <a:srgbClr val="F0F4F8"/>
                    </a:solidFill>
                  </a:tcPr>
                </a:tc>
                <a:tc>
                  <a:txBody>
                    <a:bodyPr/>
                    <a:lstStyle/>
                    <a:p>
                      <a:r>
                        <a:rPr sz="1000">
                          <a:solidFill>
                            <a:srgbClr val="2D2D2D"/>
                          </a:solidFill>
                          <a:latin typeface="Montserrat"/>
                        </a:rPr>
                        <a:t>Zhang et al. (2022)</a:t>
                      </a:r>
                    </a:p>
                  </a:txBody>
                  <a:tcPr anchor="ctr">
                    <a:solidFill>
                      <a:srgbClr val="F0F4F8"/>
                    </a:solidFill>
                  </a:tcPr>
                </a:tc>
                <a:tc>
                  <a:txBody>
                    <a:bodyPr/>
                    <a:lstStyle/>
                    <a:p>
                      <a:r>
                        <a:rPr sz="1000">
                          <a:solidFill>
                            <a:srgbClr val="2D2D2D"/>
                          </a:solidFill>
                          <a:latin typeface="Montserrat"/>
                        </a:rPr>
                        <a:t>WebSocket Performance</a:t>
                      </a:r>
                    </a:p>
                  </a:txBody>
                  <a:tcPr anchor="ctr">
                    <a:solidFill>
                      <a:srgbClr val="F0F4F8"/>
                    </a:solidFill>
                  </a:tcPr>
                </a:tc>
                <a:tc>
                  <a:txBody>
                    <a:bodyPr/>
                    <a:lstStyle/>
                    <a:p>
                      <a:r>
                        <a:rPr sz="1000">
                          <a:solidFill>
                            <a:srgbClr val="2D2D2D"/>
                          </a:solidFill>
                          <a:latin typeface="Montserrat"/>
                        </a:rPr>
                        <a:t>10x faster than HTTP polling; no typing/presence</a:t>
                      </a:r>
                    </a:p>
                  </a:txBody>
                  <a:tcPr anchor="ctr">
                    <a:solidFill>
                      <a:srgbClr val="F0F4F8"/>
                    </a:solidFill>
                  </a:tcPr>
                </a:tc>
              </a:tr>
              <a:tr h="365760">
                <a:tc>
                  <a:txBody>
                    <a:bodyPr/>
                    <a:lstStyle/>
                    <a:p>
                      <a:r>
                        <a:rPr sz="1000">
                          <a:solidFill>
                            <a:srgbClr val="2D2D2D"/>
                          </a:solidFill>
                          <a:latin typeface="Montserrat"/>
                        </a:rPr>
                        <a:t>3</a:t>
                      </a:r>
                    </a:p>
                  </a:txBody>
                  <a:tcPr anchor="ctr">
                    <a:solidFill>
                      <a:srgbClr val="FFFFFF"/>
                    </a:solidFill>
                  </a:tcPr>
                </a:tc>
                <a:tc>
                  <a:txBody>
                    <a:bodyPr/>
                    <a:lstStyle/>
                    <a:p>
                      <a:r>
                        <a:rPr sz="1000">
                          <a:solidFill>
                            <a:srgbClr val="2D2D2D"/>
                          </a:solidFill>
                          <a:latin typeface="Montserrat"/>
                        </a:rPr>
                        <a:t>Kumar &amp; Singh (2024)</a:t>
                      </a:r>
                    </a:p>
                  </a:txBody>
                  <a:tcPr anchor="ctr">
                    <a:solidFill>
                      <a:srgbClr val="FFFFFF"/>
                    </a:solidFill>
                  </a:tcPr>
                </a:tc>
                <a:tc>
                  <a:txBody>
                    <a:bodyPr/>
                    <a:lstStyle/>
                    <a:p>
                      <a:r>
                        <a:rPr sz="1000">
                          <a:solidFill>
                            <a:srgbClr val="2D2D2D"/>
                          </a:solidFill>
                          <a:latin typeface="Montserrat"/>
                        </a:rPr>
                        <a:t>JWT + bcrypt Security</a:t>
                      </a:r>
                    </a:p>
                  </a:txBody>
                  <a:tcPr anchor="ctr">
                    <a:solidFill>
                      <a:srgbClr val="FFFFFF"/>
                    </a:solidFill>
                  </a:tcPr>
                </a:tc>
                <a:tc>
                  <a:txBody>
                    <a:bodyPr/>
                    <a:lstStyle/>
                    <a:p>
                      <a:r>
                        <a:rPr sz="1000">
                          <a:solidFill>
                            <a:srgbClr val="2D2D2D"/>
                          </a:solidFill>
                          <a:latin typeface="Montserrat"/>
                        </a:rPr>
                        <a:t>Strong auth; no real-time features</a:t>
                      </a:r>
                    </a:p>
                  </a:txBody>
                  <a:tcPr anchor="ctr">
                    <a:solidFill>
                      <a:srgbClr val="FFFFFF"/>
                    </a:solidFill>
                  </a:tcPr>
                </a:tc>
              </a:tr>
              <a:tr h="365760">
                <a:tc>
                  <a:txBody>
                    <a:bodyPr/>
                    <a:lstStyle/>
                    <a:p>
                      <a:r>
                        <a:rPr sz="1000">
                          <a:solidFill>
                            <a:srgbClr val="2D2D2D"/>
                          </a:solidFill>
                          <a:latin typeface="Montserrat"/>
                        </a:rPr>
                        <a:t>4</a:t>
                      </a:r>
                    </a:p>
                  </a:txBody>
                  <a:tcPr anchor="ctr">
                    <a:solidFill>
                      <a:srgbClr val="F0F4F8"/>
                    </a:solidFill>
                  </a:tcPr>
                </a:tc>
                <a:tc>
                  <a:txBody>
                    <a:bodyPr/>
                    <a:lstStyle/>
                    <a:p>
                      <a:r>
                        <a:rPr sz="1000">
                          <a:solidFill>
                            <a:srgbClr val="2D2D2D"/>
                          </a:solidFill>
                          <a:latin typeface="Montserrat"/>
                        </a:rPr>
                        <a:t>Rahman (2023)</a:t>
                      </a:r>
                    </a:p>
                  </a:txBody>
                  <a:tcPr anchor="ctr">
                    <a:solidFill>
                      <a:srgbClr val="F0F4F8"/>
                    </a:solidFill>
                  </a:tcPr>
                </a:tc>
                <a:tc>
                  <a:txBody>
                    <a:bodyPr/>
                    <a:lstStyle/>
                    <a:p>
                      <a:r>
                        <a:rPr sz="1000">
                          <a:solidFill>
                            <a:srgbClr val="2D2D2D"/>
                          </a:solidFill>
                          <a:latin typeface="Montserrat"/>
                        </a:rPr>
                        <a:t>WebRTC Video Calling</a:t>
                      </a:r>
                    </a:p>
                  </a:txBody>
                  <a:tcPr anchor="ctr">
                    <a:solidFill>
                      <a:srgbClr val="F0F4F8"/>
                    </a:solidFill>
                  </a:tcPr>
                </a:tc>
                <a:tc>
                  <a:txBody>
                    <a:bodyPr/>
                    <a:lstStyle/>
                    <a:p>
                      <a:r>
                        <a:rPr sz="1000">
                          <a:solidFill>
                            <a:srgbClr val="2D2D2D"/>
                          </a:solidFill>
                          <a:latin typeface="Montserrat"/>
                        </a:rPr>
                        <a:t>Standalone; not integrated into messaging</a:t>
                      </a:r>
                    </a:p>
                  </a:txBody>
                  <a:tcPr anchor="ctr">
                    <a:solidFill>
                      <a:srgbClr val="F0F4F8"/>
                    </a:solidFill>
                  </a:tcPr>
                </a:tc>
              </a:tr>
              <a:tr h="365760">
                <a:tc>
                  <a:txBody>
                    <a:bodyPr/>
                    <a:lstStyle/>
                    <a:p>
                      <a:r>
                        <a:rPr sz="1000">
                          <a:solidFill>
                            <a:srgbClr val="2D2D2D"/>
                          </a:solidFill>
                          <a:latin typeface="Montserrat"/>
                        </a:rPr>
                        <a:t>5</a:t>
                      </a:r>
                    </a:p>
                  </a:txBody>
                  <a:tcPr anchor="ctr">
                    <a:solidFill>
                      <a:srgbClr val="FFFFFF"/>
                    </a:solidFill>
                  </a:tcPr>
                </a:tc>
                <a:tc>
                  <a:txBody>
                    <a:bodyPr/>
                    <a:lstStyle/>
                    <a:p>
                      <a:r>
                        <a:rPr sz="1000">
                          <a:solidFill>
                            <a:srgbClr val="2D2D2D"/>
                          </a:solidFill>
                          <a:latin typeface="Montserrat"/>
                        </a:rPr>
                        <a:t>Sharma &amp; Gupta (2025)</a:t>
                      </a:r>
                    </a:p>
                  </a:txBody>
                  <a:tcPr anchor="ctr">
                    <a:solidFill>
                      <a:srgbClr val="FFFFFF"/>
                    </a:solidFill>
                  </a:tcPr>
                </a:tc>
                <a:tc>
                  <a:txBody>
                    <a:bodyPr/>
                    <a:lstStyle/>
                    <a:p>
                      <a:r>
                        <a:rPr sz="1000">
                          <a:solidFill>
                            <a:srgbClr val="2D2D2D"/>
                          </a:solidFill>
                          <a:latin typeface="Montserrat"/>
                        </a:rPr>
                        <a:t>Group Messaging (NoSQL)</a:t>
                      </a:r>
                    </a:p>
                  </a:txBody>
                  <a:tcPr anchor="ctr">
                    <a:solidFill>
                      <a:srgbClr val="FFFFFF"/>
                    </a:solidFill>
                  </a:tcPr>
                </a:tc>
                <a:tc>
                  <a:txBody>
                    <a:bodyPr/>
                    <a:lstStyle/>
                    <a:p>
                      <a:r>
                        <a:rPr sz="1000">
                          <a:solidFill>
                            <a:srgbClr val="2D2D2D"/>
                          </a:solidFill>
                          <a:latin typeface="Montserrat"/>
                        </a:rPr>
                        <a:t>Efficient broadcast; lacks admin controls</a:t>
                      </a:r>
                    </a:p>
                  </a:txBody>
                  <a:tcPr anchor="ctr">
                    <a:solidFill>
                      <a:srgbClr val="FFFFFF"/>
                    </a:solidFill>
                  </a:tcPr>
                </a:tc>
              </a:tr>
              <a:tr h="365760">
                <a:tc>
                  <a:txBody>
                    <a:bodyPr/>
                    <a:lstStyle/>
                    <a:p>
                      <a:r>
                        <a:rPr sz="1000">
                          <a:solidFill>
                            <a:srgbClr val="2D2D2D"/>
                          </a:solidFill>
                          <a:latin typeface="Montserrat"/>
                        </a:rPr>
                        <a:t>6</a:t>
                      </a:r>
                    </a:p>
                  </a:txBody>
                  <a:tcPr anchor="ctr">
                    <a:solidFill>
                      <a:srgbClr val="F0F4F8"/>
                    </a:solidFill>
                  </a:tcPr>
                </a:tc>
                <a:tc>
                  <a:txBody>
                    <a:bodyPr/>
                    <a:lstStyle/>
                    <a:p>
                      <a:r>
                        <a:rPr sz="1000">
                          <a:solidFill>
                            <a:srgbClr val="2D2D2D"/>
                          </a:solidFill>
                          <a:latin typeface="Montserrat"/>
                        </a:rPr>
                        <a:t>Li &amp; Wang (2022)</a:t>
                      </a:r>
                    </a:p>
                  </a:txBody>
                  <a:tcPr anchor="ctr">
                    <a:solidFill>
                      <a:srgbClr val="F0F4F8"/>
                    </a:solidFill>
                  </a:tcPr>
                </a:tc>
                <a:tc>
                  <a:txBody>
                    <a:bodyPr/>
                    <a:lstStyle/>
                    <a:p>
                      <a:r>
                        <a:rPr sz="1000">
                          <a:solidFill>
                            <a:srgbClr val="2D2D2D"/>
                          </a:solidFill>
                          <a:latin typeface="Montserrat"/>
                        </a:rPr>
                        <a:t>Cloud File Sharing</a:t>
                      </a:r>
                    </a:p>
                  </a:txBody>
                  <a:tcPr anchor="ctr">
                    <a:solidFill>
                      <a:srgbClr val="F0F4F8"/>
                    </a:solidFill>
                  </a:tcPr>
                </a:tc>
                <a:tc>
                  <a:txBody>
                    <a:bodyPr/>
                    <a:lstStyle/>
                    <a:p>
                      <a:r>
                        <a:rPr sz="1000">
                          <a:solidFill>
                            <a:srgbClr val="2D2D2D"/>
                          </a:solidFill>
                          <a:latin typeface="Montserrat"/>
                        </a:rPr>
                        <a:t>Seamless uploads; no real-time integration</a:t>
                      </a:r>
                    </a:p>
                  </a:txBody>
                  <a:tcPr anchor="ctr">
                    <a:solidFill>
                      <a:srgbClr val="F0F4F8"/>
                    </a:solidFill>
                  </a:tcPr>
                </a:tc>
              </a:tr>
              <a:tr h="365760">
                <a:tc>
                  <a:txBody>
                    <a:bodyPr/>
                    <a:lstStyle/>
                    <a:p>
                      <a:r>
                        <a:rPr sz="1000">
                          <a:solidFill>
                            <a:srgbClr val="2D2D2D"/>
                          </a:solidFill>
                          <a:latin typeface="Montserrat"/>
                        </a:rPr>
                        <a:t>7</a:t>
                      </a:r>
                    </a:p>
                  </a:txBody>
                  <a:tcPr anchor="ctr">
                    <a:solidFill>
                      <a:srgbClr val="FFFFFF"/>
                    </a:solidFill>
                  </a:tcPr>
                </a:tc>
                <a:tc>
                  <a:txBody>
                    <a:bodyPr/>
                    <a:lstStyle/>
                    <a:p>
                      <a:r>
                        <a:rPr sz="1000">
                          <a:solidFill>
                            <a:srgbClr val="2D2D2D"/>
                          </a:solidFill>
                          <a:latin typeface="Montserrat"/>
                        </a:rPr>
                        <a:t>Reddy &amp; Rao (2024)</a:t>
                      </a:r>
                    </a:p>
                  </a:txBody>
                  <a:tcPr anchor="ctr">
                    <a:solidFill>
                      <a:srgbClr val="FFFFFF"/>
                    </a:solidFill>
                  </a:tcPr>
                </a:tc>
                <a:tc>
                  <a:txBody>
                    <a:bodyPr/>
                    <a:lstStyle/>
                    <a:p>
                      <a:r>
                        <a:rPr sz="1000">
                          <a:solidFill>
                            <a:srgbClr val="2D2D2D"/>
                          </a:solidFill>
                          <a:latin typeface="Montserrat"/>
                        </a:rPr>
                        <a:t>Zustand vs Redux</a:t>
                      </a:r>
                    </a:p>
                  </a:txBody>
                  <a:tcPr anchor="ctr">
                    <a:solidFill>
                      <a:srgbClr val="FFFFFF"/>
                    </a:solidFill>
                  </a:tcPr>
                </a:tc>
                <a:tc>
                  <a:txBody>
                    <a:bodyPr/>
                    <a:lstStyle/>
                    <a:p>
                      <a:r>
                        <a:rPr sz="1000">
                          <a:solidFill>
                            <a:srgbClr val="2D2D2D"/>
                          </a:solidFill>
                          <a:latin typeface="Montserrat"/>
                        </a:rPr>
                        <a:t>Simpler API; no messaging patterns</a:t>
                      </a:r>
                    </a:p>
                  </a:txBody>
                  <a:tcPr anchor="ctr">
                    <a:solidFill>
                      <a:srgbClr val="FFFFFF"/>
                    </a:solidFill>
                  </a:tcPr>
                </a:tc>
              </a:tr>
              <a:tr h="365760">
                <a:tc>
                  <a:txBody>
                    <a:bodyPr/>
                    <a:lstStyle/>
                    <a:p>
                      <a:r>
                        <a:rPr sz="1000">
                          <a:solidFill>
                            <a:srgbClr val="2D2D2D"/>
                          </a:solidFill>
                          <a:latin typeface="Montserrat"/>
                        </a:rPr>
                        <a:t>8</a:t>
                      </a:r>
                    </a:p>
                  </a:txBody>
                  <a:tcPr anchor="ctr">
                    <a:solidFill>
                      <a:srgbClr val="F0F4F8"/>
                    </a:solidFill>
                  </a:tcPr>
                </a:tc>
                <a:tc>
                  <a:txBody>
                    <a:bodyPr/>
                    <a:lstStyle/>
                    <a:p>
                      <a:r>
                        <a:rPr sz="1000">
                          <a:solidFill>
                            <a:srgbClr val="2D2D2D"/>
                          </a:solidFill>
                          <a:latin typeface="Montserrat"/>
                        </a:rPr>
                        <a:t>Fernandez (2023)</a:t>
                      </a:r>
                    </a:p>
                  </a:txBody>
                  <a:tcPr anchor="ctr">
                    <a:solidFill>
                      <a:srgbClr val="F0F4F8"/>
                    </a:solidFill>
                  </a:tcPr>
                </a:tc>
                <a:tc>
                  <a:txBody>
                    <a:bodyPr/>
                    <a:lstStyle/>
                    <a:p>
                      <a:r>
                        <a:rPr sz="1000">
                          <a:solidFill>
                            <a:srgbClr val="2D2D2D"/>
                          </a:solidFill>
                          <a:latin typeface="Montserrat"/>
                        </a:rPr>
                        <a:t>Tailwind CSS UI</a:t>
                      </a:r>
                    </a:p>
                  </a:txBody>
                  <a:tcPr anchor="ctr">
                    <a:solidFill>
                      <a:srgbClr val="F0F4F8"/>
                    </a:solidFill>
                  </a:tcPr>
                </a:tc>
                <a:tc>
                  <a:txBody>
                    <a:bodyPr/>
                    <a:lstStyle/>
                    <a:p>
                      <a:r>
                        <a:rPr sz="1000">
                          <a:solidFill>
                            <a:srgbClr val="2D2D2D"/>
                          </a:solidFill>
                          <a:latin typeface="Montserrat"/>
                        </a:rPr>
                        <a:t>Rapid dev; no dark mode / theme switching</a:t>
                      </a:r>
                    </a:p>
                  </a:txBody>
                  <a:tcPr anchor="ctr">
                    <a:solidFill>
                      <a:srgbClr val="F0F4F8"/>
                    </a:solidFill>
                  </a:tcPr>
                </a:tc>
              </a:tr>
              <a:tr h="365760">
                <a:tc>
                  <a:txBody>
                    <a:bodyPr/>
                    <a:lstStyle/>
                    <a:p>
                      <a:r>
                        <a:rPr sz="1000">
                          <a:solidFill>
                            <a:srgbClr val="2D2D2D"/>
                          </a:solidFill>
                          <a:latin typeface="Montserrat"/>
                        </a:rPr>
                        <a:t>9</a:t>
                      </a:r>
                    </a:p>
                  </a:txBody>
                  <a:tcPr anchor="ctr">
                    <a:solidFill>
                      <a:srgbClr val="FFFFFF"/>
                    </a:solidFill>
                  </a:tcPr>
                </a:tc>
                <a:tc>
                  <a:txBody>
                    <a:bodyPr/>
                    <a:lstStyle/>
                    <a:p>
                      <a:r>
                        <a:rPr sz="1000">
                          <a:solidFill>
                            <a:srgbClr val="2D2D2D"/>
                          </a:solidFill>
                          <a:latin typeface="Montserrat"/>
                        </a:rPr>
                        <a:t>Das &amp; Mukherjee (2024)</a:t>
                      </a:r>
                    </a:p>
                  </a:txBody>
                  <a:tcPr anchor="ctr">
                    <a:solidFill>
                      <a:srgbClr val="FFFFFF"/>
                    </a:solidFill>
                  </a:tcPr>
                </a:tc>
                <a:tc>
                  <a:txBody>
                    <a:bodyPr/>
                    <a:lstStyle/>
                    <a:p>
                      <a:r>
                        <a:rPr sz="1000">
                          <a:solidFill>
                            <a:srgbClr val="2D2D2D"/>
                          </a:solidFill>
                          <a:latin typeface="Montserrat"/>
                        </a:rPr>
                        <a:t>Read Receipts</a:t>
                      </a:r>
                    </a:p>
                  </a:txBody>
                  <a:tcPr anchor="ctr">
                    <a:solidFill>
                      <a:srgbClr val="FFFFFF"/>
                    </a:solidFill>
                  </a:tcPr>
                </a:tc>
                <a:tc>
                  <a:txBody>
                    <a:bodyPr/>
                    <a:lstStyle/>
                    <a:p>
                      <a:r>
                        <a:rPr sz="1000">
                          <a:solidFill>
                            <a:srgbClr val="2D2D2D"/>
                          </a:solidFill>
                          <a:latin typeface="Montserrat"/>
                        </a:rPr>
                        <a:t>Accurate tracking; single-user demo only</a:t>
                      </a:r>
                    </a:p>
                  </a:txBody>
                  <a:tcPr anchor="ctr">
                    <a:solidFill>
                      <a:srgbClr val="FFFFFF"/>
                    </a:solidFill>
                  </a:tcPr>
                </a:tc>
              </a:tr>
              <a:tr h="365760">
                <a:tc>
                  <a:txBody>
                    <a:bodyPr/>
                    <a:lstStyle/>
                    <a:p>
                      <a:r>
                        <a:rPr sz="1000">
                          <a:solidFill>
                            <a:srgbClr val="2D2D2D"/>
                          </a:solidFill>
                          <a:latin typeface="Montserrat"/>
                        </a:rPr>
                        <a:t>10</a:t>
                      </a:r>
                    </a:p>
                  </a:txBody>
                  <a:tcPr anchor="ctr">
                    <a:solidFill>
                      <a:srgbClr val="F0F4F8"/>
                    </a:solidFill>
                  </a:tcPr>
                </a:tc>
                <a:tc>
                  <a:txBody>
                    <a:bodyPr/>
                    <a:lstStyle/>
                    <a:p>
                      <a:r>
                        <a:rPr sz="1000">
                          <a:solidFill>
                            <a:srgbClr val="2D2D2D"/>
                          </a:solidFill>
                          <a:latin typeface="Montserrat"/>
                        </a:rPr>
                        <a:t>Nakamura (2025)</a:t>
                      </a:r>
                    </a:p>
                  </a:txBody>
                  <a:tcPr anchor="ctr">
                    <a:solidFill>
                      <a:srgbClr val="F0F4F8"/>
                    </a:solidFill>
                  </a:tcPr>
                </a:tc>
                <a:tc>
                  <a:txBody>
                    <a:bodyPr/>
                    <a:lstStyle/>
                    <a:p>
                      <a:r>
                        <a:rPr sz="1000">
                          <a:solidFill>
                            <a:srgbClr val="2D2D2D"/>
                          </a:solidFill>
                          <a:latin typeface="Montserrat"/>
                        </a:rPr>
                        <a:t>PWA Chat + Offline</a:t>
                      </a:r>
                    </a:p>
                  </a:txBody>
                  <a:tcPr anchor="ctr">
                    <a:solidFill>
                      <a:srgbClr val="F0F4F8"/>
                    </a:solidFill>
                  </a:tcPr>
                </a:tc>
                <a:tc>
                  <a:txBody>
                    <a:bodyPr/>
                    <a:lstStyle/>
                    <a:p>
                      <a:r>
                        <a:rPr sz="1000">
                          <a:solidFill>
                            <a:srgbClr val="2D2D2D"/>
                          </a:solidFill>
                          <a:latin typeface="Montserrat"/>
                        </a:rPr>
                        <a:t>Installable as app; lacks advanced types</a:t>
                      </a:r>
                    </a:p>
                  </a:txBody>
                  <a:tcPr anchor="ctr">
                    <a:solidFill>
                      <a:srgbClr val="F0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7</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Key Modules &amp; Features</a:t>
            </a:r>
          </a:p>
        </p:txBody>
      </p:sp>
      <p:graphicFrame>
        <p:nvGraphicFramePr>
          <p:cNvPr id="9" name="Table 8"/>
          <p:cNvGraphicFramePr>
            <a:graphicFrameLocks noGrp="1"/>
          </p:cNvGraphicFramePr>
          <p:nvPr/>
        </p:nvGraphicFramePr>
        <p:xfrm>
          <a:off x="731520" y="1920240"/>
          <a:ext cx="10332720" cy="4023360"/>
        </p:xfrm>
        <a:graphic>
          <a:graphicData uri="http://schemas.openxmlformats.org/drawingml/2006/table">
            <a:tbl>
              <a:tblPr firstRow="1" bandRow="1">
                <a:tableStyleId>{5C22544A-7EE6-4342-B048-85BDC9FD1C3A}</a:tableStyleId>
              </a:tblPr>
              <a:tblGrid>
                <a:gridCol w="2286000"/>
                <a:gridCol w="8046720"/>
              </a:tblGrid>
              <a:tr h="365760">
                <a:tc>
                  <a:txBody>
                    <a:bodyPr/>
                    <a:lstStyle/>
                    <a:p>
                      <a:r>
                        <a:rPr sz="1100" b="1">
                          <a:solidFill>
                            <a:srgbClr val="FFFFFF"/>
                          </a:solidFill>
                          <a:latin typeface="Montserrat"/>
                        </a:rPr>
                        <a:t>Module</a:t>
                      </a:r>
                    </a:p>
                  </a:txBody>
                  <a:tcPr anchor="ctr">
                    <a:solidFill>
                      <a:srgbClr val="1B365D"/>
                    </a:solidFill>
                  </a:tcPr>
                </a:tc>
                <a:tc>
                  <a:txBody>
                    <a:bodyPr/>
                    <a:lstStyle/>
                    <a:p>
                      <a:r>
                        <a:rPr sz="1100" b="1">
                          <a:solidFill>
                            <a:srgbClr val="FFFFFF"/>
                          </a:solidFill>
                          <a:latin typeface="Montserrat"/>
                        </a:rPr>
                        <a:t>Description</a:t>
                      </a:r>
                    </a:p>
                  </a:txBody>
                  <a:tcPr anchor="ctr">
                    <a:solidFill>
                      <a:srgbClr val="1B365D"/>
                    </a:solidFill>
                  </a:tcPr>
                </a:tc>
              </a:tr>
              <a:tr h="365760">
                <a:tc>
                  <a:txBody>
                    <a:bodyPr/>
                    <a:lstStyle/>
                    <a:p>
                      <a:r>
                        <a:rPr sz="1100">
                          <a:solidFill>
                            <a:srgbClr val="2D2D2D"/>
                          </a:solidFill>
                          <a:latin typeface="Montserrat"/>
                        </a:rPr>
                        <a:t>Authentication</a:t>
                      </a:r>
                    </a:p>
                  </a:txBody>
                  <a:tcPr anchor="ctr">
                    <a:solidFill>
                      <a:srgbClr val="FFFFFF"/>
                    </a:solidFill>
                  </a:tcPr>
                </a:tc>
                <a:tc>
                  <a:txBody>
                    <a:bodyPr/>
                    <a:lstStyle/>
                    <a:p>
                      <a:r>
                        <a:rPr sz="1100">
                          <a:solidFill>
                            <a:srgbClr val="2D2D2D"/>
                          </a:solidFill>
                          <a:latin typeface="Montserrat"/>
                        </a:rPr>
                        <a:t>JWT + Bcrypt login/register; token verification middleware; session management</a:t>
                      </a:r>
                    </a:p>
                  </a:txBody>
                  <a:tcPr anchor="ctr">
                    <a:solidFill>
                      <a:srgbClr val="FFFFFF"/>
                    </a:solidFill>
                  </a:tcPr>
                </a:tc>
              </a:tr>
              <a:tr h="365760">
                <a:tc>
                  <a:txBody>
                    <a:bodyPr/>
                    <a:lstStyle/>
                    <a:p>
                      <a:r>
                        <a:rPr sz="1100">
                          <a:solidFill>
                            <a:srgbClr val="2D2D2D"/>
                          </a:solidFill>
                          <a:latin typeface="Montserrat"/>
                        </a:rPr>
                        <a:t>Chat Dashboard</a:t>
                      </a:r>
                    </a:p>
                  </a:txBody>
                  <a:tcPr anchor="ctr">
                    <a:solidFill>
                      <a:srgbClr val="F0F4F8"/>
                    </a:solidFill>
                  </a:tcPr>
                </a:tc>
                <a:tc>
                  <a:txBody>
                    <a:bodyPr/>
                    <a:lstStyle/>
                    <a:p>
                      <a:r>
                        <a:rPr sz="1100">
                          <a:solidFill>
                            <a:srgbClr val="2D2D2D"/>
                          </a:solidFill>
                          <a:latin typeface="Montserrat"/>
                        </a:rPr>
                        <a:t>WhatsApp-style sidebar + chat window; responsive mobile-first layout</a:t>
                      </a:r>
                    </a:p>
                  </a:txBody>
                  <a:tcPr anchor="ctr">
                    <a:solidFill>
                      <a:srgbClr val="F0F4F8"/>
                    </a:solidFill>
                  </a:tcPr>
                </a:tc>
              </a:tr>
              <a:tr h="365760">
                <a:tc>
                  <a:txBody>
                    <a:bodyPr/>
                    <a:lstStyle/>
                    <a:p>
                      <a:r>
                        <a:rPr sz="1100">
                          <a:solidFill>
                            <a:srgbClr val="2D2D2D"/>
                          </a:solidFill>
                          <a:latin typeface="Montserrat"/>
                        </a:rPr>
                        <a:t>Real-Time Messaging</a:t>
                      </a:r>
                    </a:p>
                  </a:txBody>
                  <a:tcPr anchor="ctr">
                    <a:solidFill>
                      <a:srgbClr val="FFFFFF"/>
                    </a:solidFill>
                  </a:tcPr>
                </a:tc>
                <a:tc>
                  <a:txBody>
                    <a:bodyPr/>
                    <a:lstStyle/>
                    <a:p>
                      <a:r>
                        <a:rPr sz="1100">
                          <a:solidFill>
                            <a:srgbClr val="2D2D2D"/>
                          </a:solidFill>
                          <a:latin typeface="Montserrat"/>
                        </a:rPr>
                        <a:t>Socket.IO events for send/receive/delivered/read; optimistic UI updates</a:t>
                      </a:r>
                    </a:p>
                  </a:txBody>
                  <a:tcPr anchor="ctr">
                    <a:solidFill>
                      <a:srgbClr val="FFFFFF"/>
                    </a:solidFill>
                  </a:tcPr>
                </a:tc>
              </a:tr>
              <a:tr h="365760">
                <a:tc>
                  <a:txBody>
                    <a:bodyPr/>
                    <a:lstStyle/>
                    <a:p>
                      <a:r>
                        <a:rPr sz="1100">
                          <a:solidFill>
                            <a:srgbClr val="2D2D2D"/>
                          </a:solidFill>
                          <a:latin typeface="Montserrat"/>
                        </a:rPr>
                        <a:t>Group Conversations</a:t>
                      </a:r>
                    </a:p>
                  </a:txBody>
                  <a:tcPr anchor="ctr">
                    <a:solidFill>
                      <a:srgbClr val="F0F4F8"/>
                    </a:solidFill>
                  </a:tcPr>
                </a:tc>
                <a:tc>
                  <a:txBody>
                    <a:bodyPr/>
                    <a:lstStyle/>
                    <a:p>
                      <a:r>
                        <a:rPr sz="1100">
                          <a:solidFill>
                            <a:srgbClr val="2D2D2D"/>
                          </a:solidFill>
                          <a:latin typeface="Montserrat"/>
                        </a:rPr>
                        <a:t>Multi-step group creation; admin controls; add/remove members</a:t>
                      </a:r>
                    </a:p>
                  </a:txBody>
                  <a:tcPr anchor="ctr">
                    <a:solidFill>
                      <a:srgbClr val="F0F4F8"/>
                    </a:solidFill>
                  </a:tcPr>
                </a:tc>
              </a:tr>
              <a:tr h="365760">
                <a:tc>
                  <a:txBody>
                    <a:bodyPr/>
                    <a:lstStyle/>
                    <a:p>
                      <a:r>
                        <a:rPr sz="1100">
                          <a:solidFill>
                            <a:srgbClr val="2D2D2D"/>
                          </a:solidFill>
                          <a:latin typeface="Montserrat"/>
                        </a:rPr>
                        <a:t>Media Sharing</a:t>
                      </a:r>
                    </a:p>
                  </a:txBody>
                  <a:tcPr anchor="ctr">
                    <a:solidFill>
                      <a:srgbClr val="FFFFFF"/>
                    </a:solidFill>
                  </a:tcPr>
                </a:tc>
                <a:tc>
                  <a:txBody>
                    <a:bodyPr/>
                    <a:lstStyle/>
                    <a:p>
                      <a:r>
                        <a:rPr sz="1100">
                          <a:solidFill>
                            <a:srgbClr val="2D2D2D"/>
                          </a:solidFill>
                          <a:latin typeface="Montserrat"/>
                        </a:rPr>
                        <a:t>Cloudinary uploads (images, docs, voice); 10MB limit; clipboard paste</a:t>
                      </a:r>
                    </a:p>
                  </a:txBody>
                  <a:tcPr anchor="ctr">
                    <a:solidFill>
                      <a:srgbClr val="FFFFFF"/>
                    </a:solidFill>
                  </a:tcPr>
                </a:tc>
              </a:tr>
              <a:tr h="365760">
                <a:tc>
                  <a:txBody>
                    <a:bodyPr/>
                    <a:lstStyle/>
                    <a:p>
                      <a:r>
                        <a:rPr sz="1100">
                          <a:solidFill>
                            <a:srgbClr val="2D2D2D"/>
                          </a:solidFill>
                          <a:latin typeface="Montserrat"/>
                        </a:rPr>
                        <a:t>Presence &amp; Typing</a:t>
                      </a:r>
                    </a:p>
                  </a:txBody>
                  <a:tcPr anchor="ctr">
                    <a:solidFill>
                      <a:srgbClr val="F0F4F8"/>
                    </a:solidFill>
                  </a:tcPr>
                </a:tc>
                <a:tc>
                  <a:txBody>
                    <a:bodyPr/>
                    <a:lstStyle/>
                    <a:p>
                      <a:r>
                        <a:rPr sz="1100">
                          <a:solidFill>
                            <a:srgbClr val="2D2D2D"/>
                          </a:solidFill>
                          <a:latin typeface="Montserrat"/>
                        </a:rPr>
                        <a:t>Online/offline status; last seen; animated typing indicators</a:t>
                      </a:r>
                    </a:p>
                  </a:txBody>
                  <a:tcPr anchor="ctr">
                    <a:solidFill>
                      <a:srgbClr val="F0F4F8"/>
                    </a:solidFill>
                  </a:tcPr>
                </a:tc>
              </a:tr>
              <a:tr h="365760">
                <a:tc>
                  <a:txBody>
                    <a:bodyPr/>
                    <a:lstStyle/>
                    <a:p>
                      <a:r>
                        <a:rPr sz="1100">
                          <a:solidFill>
                            <a:srgbClr val="2D2D2D"/>
                          </a:solidFill>
                          <a:latin typeface="Montserrat"/>
                        </a:rPr>
                        <a:t>Notifications</a:t>
                      </a:r>
                    </a:p>
                  </a:txBody>
                  <a:tcPr anchor="ctr">
                    <a:solidFill>
                      <a:srgbClr val="FFFFFF"/>
                    </a:solidFill>
                  </a:tcPr>
                </a:tc>
                <a:tc>
                  <a:txBody>
                    <a:bodyPr/>
                    <a:lstStyle/>
                    <a:p>
                      <a:r>
                        <a:rPr sz="1100">
                          <a:solidFill>
                            <a:srgbClr val="2D2D2D"/>
                          </a:solidFill>
                          <a:latin typeface="Montserrat"/>
                        </a:rPr>
                        <a:t>Slide-in panel with message previews, timestamps, read/unread status</a:t>
                      </a:r>
                    </a:p>
                  </a:txBody>
                  <a:tcPr anchor="ctr">
                    <a:solidFill>
                      <a:srgbClr val="FFFFFF"/>
                    </a:solidFill>
                  </a:tcPr>
                </a:tc>
              </a:tr>
              <a:tr h="365760">
                <a:tc>
                  <a:txBody>
                    <a:bodyPr/>
                    <a:lstStyle/>
                    <a:p>
                      <a:r>
                        <a:rPr sz="1100">
                          <a:solidFill>
                            <a:srgbClr val="2D2D2D"/>
                          </a:solidFill>
                          <a:latin typeface="Montserrat"/>
                        </a:rPr>
                        <a:t>Profile Management</a:t>
                      </a:r>
                    </a:p>
                  </a:txBody>
                  <a:tcPr anchor="ctr">
                    <a:solidFill>
                      <a:srgbClr val="F0F4F8"/>
                    </a:solidFill>
                  </a:tcPr>
                </a:tc>
                <a:tc>
                  <a:txBody>
                    <a:bodyPr/>
                    <a:lstStyle/>
                    <a:p>
                      <a:r>
                        <a:rPr sz="1100">
                          <a:solidFill>
                            <a:srgbClr val="2D2D2D"/>
                          </a:solidFill>
                          <a:latin typeface="Montserrat"/>
                        </a:rPr>
                        <a:t>Edit name, about, avatar; Cloudinary upload; user blocking</a:t>
                      </a:r>
                    </a:p>
                  </a:txBody>
                  <a:tcPr anchor="ctr">
                    <a:solidFill>
                      <a:srgbClr val="F0F4F8"/>
                    </a:solidFill>
                  </a:tcPr>
                </a:tc>
              </a:tr>
              <a:tr h="365760">
                <a:tc>
                  <a:txBody>
                    <a:bodyPr/>
                    <a:lstStyle/>
                    <a:p>
                      <a:r>
                        <a:rPr sz="1100">
                          <a:solidFill>
                            <a:srgbClr val="2D2D2D"/>
                          </a:solidFill>
                          <a:latin typeface="Montserrat"/>
                        </a:rPr>
                        <a:t>Theme System</a:t>
                      </a:r>
                    </a:p>
                  </a:txBody>
                  <a:tcPr anchor="ctr">
                    <a:solidFill>
                      <a:srgbClr val="FFFFFF"/>
                    </a:solidFill>
                  </a:tcPr>
                </a:tc>
                <a:tc>
                  <a:txBody>
                    <a:bodyPr/>
                    <a:lstStyle/>
                    <a:p>
                      <a:r>
                        <a:rPr sz="1100">
                          <a:solidFill>
                            <a:srgbClr val="2D2D2D"/>
                          </a:solidFill>
                          <a:latin typeface="Montserrat"/>
                        </a:rPr>
                        <a:t>Dark/light toggle with Zustand persistence; CSS custom properties</a:t>
                      </a:r>
                    </a:p>
                  </a:txBody>
                  <a:tcPr anchor="ctr">
                    <a:solidFill>
                      <a:srgbClr val="FFFFFF"/>
                    </a:solidFill>
                  </a:tcPr>
                </a:tc>
              </a:tr>
              <a:tr h="365760">
                <a:tc>
                  <a:txBody>
                    <a:bodyPr/>
                    <a:lstStyle/>
                    <a:p>
                      <a:r>
                        <a:rPr sz="1100">
                          <a:solidFill>
                            <a:srgbClr val="2D2D2D"/>
                          </a:solidFill>
                          <a:latin typeface="Montserrat"/>
                        </a:rPr>
                        <a:t>Message Search</a:t>
                      </a:r>
                    </a:p>
                  </a:txBody>
                  <a:tcPr anchor="ctr">
                    <a:solidFill>
                      <a:srgbClr val="F0F4F8"/>
                    </a:solidFill>
                  </a:tcPr>
                </a:tc>
                <a:tc>
                  <a:txBody>
                    <a:bodyPr/>
                    <a:lstStyle/>
                    <a:p>
                      <a:r>
                        <a:rPr sz="1100">
                          <a:solidFill>
                            <a:srgbClr val="2D2D2D"/>
                          </a:solidFill>
                          <a:latin typeface="Montserrat"/>
                        </a:rPr>
                        <a:t>In-chat search with match counter, navigation, and auto-scroll</a:t>
                      </a:r>
                    </a:p>
                  </a:txBody>
                  <a:tcPr anchor="ctr">
                    <a:solidFill>
                      <a:srgbClr val="F0F4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8</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Methodology</a:t>
            </a:r>
          </a:p>
        </p:txBody>
      </p:sp>
      <p:sp>
        <p:nvSpPr>
          <p:cNvPr id="9" name="TextBox 8"/>
          <p:cNvSpPr txBox="1"/>
          <p:nvPr/>
        </p:nvSpPr>
        <p:spPr>
          <a:xfrm>
            <a:off x="1005840" y="1920240"/>
            <a:ext cx="9601200" cy="4114800"/>
          </a:xfrm>
          <a:prstGeom prst="rect">
            <a:avLst/>
          </a:prstGeom>
          <a:noFill/>
        </p:spPr>
        <p:txBody>
          <a:bodyPr wrap="square">
            <a:spAutoFit/>
          </a:bodyPr>
          <a:lstStyle/>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Requirement Analysis — Identified functional requirements (auth, messaging, groups, media, notifications) and non-functional requirements (latency, security, scalability).</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System Design — Layered architecture with 4 REST API route groups (/auth, /users, /conversations, /messages) and Socket.IO event contracts.</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Database Design — Three Mongoose collections: User, Conversation, Message with compound indexes for efficient queries.</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Backend Development — Express module-by-module: Auth routes, User routes, Conversation routes, Message routes, Socket event handlers, Middleware.</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Frontend Development — React component groups: Auth, Chat, Group, Profile, Common components + Zustand stores + Custom hooks.</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Integration — Vite dev-server proxy (local) + Vercel rewrite rules (production); Socket.IO with JWT handshake.</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Testing — Postman API testing + Manual UI testing of all interactions across mobile/tablet/desktop viewports.</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Deployment — Backend on Render, Frontend on Vercel, Database on MongoDB Atlas with environment variable configuration.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9</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Database Schema</a:t>
            </a:r>
          </a:p>
        </p:txBody>
      </p:sp>
      <p:graphicFrame>
        <p:nvGraphicFramePr>
          <p:cNvPr id="9" name="Table 8"/>
          <p:cNvGraphicFramePr>
            <a:graphicFrameLocks noGrp="1"/>
          </p:cNvGraphicFramePr>
          <p:nvPr/>
        </p:nvGraphicFramePr>
        <p:xfrm>
          <a:off x="731520" y="2011680"/>
          <a:ext cx="10332720" cy="1463040"/>
        </p:xfrm>
        <a:graphic>
          <a:graphicData uri="http://schemas.openxmlformats.org/drawingml/2006/table">
            <a:tbl>
              <a:tblPr firstRow="1" bandRow="1">
                <a:tableStyleId>{5C22544A-7EE6-4342-B048-85BDC9FD1C3A}</a:tableStyleId>
              </a:tblPr>
              <a:tblGrid>
                <a:gridCol w="1828800"/>
                <a:gridCol w="4114800"/>
                <a:gridCol w="4389120"/>
              </a:tblGrid>
              <a:tr h="365760">
                <a:tc>
                  <a:txBody>
                    <a:bodyPr/>
                    <a:lstStyle/>
                    <a:p>
                      <a:r>
                        <a:rPr sz="1100" b="1">
                          <a:solidFill>
                            <a:srgbClr val="FFFFFF"/>
                          </a:solidFill>
                          <a:latin typeface="Montserrat"/>
                        </a:rPr>
                        <a:t>Collection</a:t>
                      </a:r>
                    </a:p>
                  </a:txBody>
                  <a:tcPr anchor="ctr">
                    <a:solidFill>
                      <a:srgbClr val="1B365D"/>
                    </a:solidFill>
                  </a:tcPr>
                </a:tc>
                <a:tc>
                  <a:txBody>
                    <a:bodyPr/>
                    <a:lstStyle/>
                    <a:p>
                      <a:r>
                        <a:rPr sz="1100" b="1">
                          <a:solidFill>
                            <a:srgbClr val="FFFFFF"/>
                          </a:solidFill>
                          <a:latin typeface="Montserrat"/>
                        </a:rPr>
                        <a:t>Key Fields</a:t>
                      </a:r>
                    </a:p>
                  </a:txBody>
                  <a:tcPr anchor="ctr">
                    <a:solidFill>
                      <a:srgbClr val="1B365D"/>
                    </a:solidFill>
                  </a:tcPr>
                </a:tc>
                <a:tc>
                  <a:txBody>
                    <a:bodyPr/>
                    <a:lstStyle/>
                    <a:p>
                      <a:r>
                        <a:rPr sz="1100" b="1">
                          <a:solidFill>
                            <a:srgbClr val="FFFFFF"/>
                          </a:solidFill>
                          <a:latin typeface="Montserrat"/>
                        </a:rPr>
                        <a:t>Purpose</a:t>
                      </a:r>
                    </a:p>
                  </a:txBody>
                  <a:tcPr anchor="ctr">
                    <a:solidFill>
                      <a:srgbClr val="1B365D"/>
                    </a:solidFill>
                  </a:tcPr>
                </a:tc>
              </a:tr>
              <a:tr h="365760">
                <a:tc>
                  <a:txBody>
                    <a:bodyPr/>
                    <a:lstStyle/>
                    <a:p>
                      <a:r>
                        <a:rPr sz="1100">
                          <a:solidFill>
                            <a:srgbClr val="2D2D2D"/>
                          </a:solidFill>
                          <a:latin typeface="Montserrat"/>
                        </a:rPr>
                        <a:t>User</a:t>
                      </a:r>
                    </a:p>
                  </a:txBody>
                  <a:tcPr anchor="ctr">
                    <a:solidFill>
                      <a:srgbClr val="FFFFFF"/>
                    </a:solidFill>
                  </a:tcPr>
                </a:tc>
                <a:tc>
                  <a:txBody>
                    <a:bodyPr/>
                    <a:lstStyle/>
                    <a:p>
                      <a:r>
                        <a:rPr sz="1100">
                          <a:solidFill>
                            <a:srgbClr val="2D2D2D"/>
                          </a:solidFill>
                          <a:latin typeface="Montserrat"/>
                        </a:rPr>
                        <a:t>fullName, email, password, avatar,
about, lastSeen, isOnline, blockedUsers</a:t>
                      </a:r>
                    </a:p>
                  </a:txBody>
                  <a:tcPr anchor="ctr">
                    <a:solidFill>
                      <a:srgbClr val="FFFFFF"/>
                    </a:solidFill>
                  </a:tcPr>
                </a:tc>
                <a:tc>
                  <a:txBody>
                    <a:bodyPr/>
                    <a:lstStyle/>
                    <a:p>
                      <a:r>
                        <a:rPr sz="1100">
                          <a:solidFill>
                            <a:srgbClr val="2D2D2D"/>
                          </a:solidFill>
                          <a:latin typeface="Montserrat"/>
                        </a:rPr>
                        <a:t>Account credentials, profile data,
online status, block list</a:t>
                      </a:r>
                    </a:p>
                  </a:txBody>
                  <a:tcPr anchor="ctr">
                    <a:solidFill>
                      <a:srgbClr val="FFFFFF"/>
                    </a:solidFill>
                  </a:tcPr>
                </a:tc>
              </a:tr>
              <a:tr h="365760">
                <a:tc>
                  <a:txBody>
                    <a:bodyPr/>
                    <a:lstStyle/>
                    <a:p>
                      <a:r>
                        <a:rPr sz="1100">
                          <a:solidFill>
                            <a:srgbClr val="2D2D2D"/>
                          </a:solidFill>
                          <a:latin typeface="Montserrat"/>
                        </a:rPr>
                        <a:t>Conversation</a:t>
                      </a:r>
                    </a:p>
                  </a:txBody>
                  <a:tcPr anchor="ctr">
                    <a:solidFill>
                      <a:srgbClr val="F0F4F8"/>
                    </a:solidFill>
                  </a:tcPr>
                </a:tc>
                <a:tc>
                  <a:txBody>
                    <a:bodyPr/>
                    <a:lstStyle/>
                    <a:p>
                      <a:r>
                        <a:rPr sz="1100">
                          <a:solidFill>
                            <a:srgbClr val="2D2D2D"/>
                          </a:solidFill>
                          <a:latin typeface="Montserrat"/>
                        </a:rPr>
                        <a:t>type, participants, groupInfo,
lastMessage, unreadCount, wallpaper</a:t>
                      </a:r>
                    </a:p>
                  </a:txBody>
                  <a:tcPr anchor="ctr">
                    <a:solidFill>
                      <a:srgbClr val="F0F4F8"/>
                    </a:solidFill>
                  </a:tcPr>
                </a:tc>
                <a:tc>
                  <a:txBody>
                    <a:bodyPr/>
                    <a:lstStyle/>
                    <a:p>
                      <a:r>
                        <a:rPr sz="1100">
                          <a:solidFill>
                            <a:srgbClr val="2D2D2D"/>
                          </a:solidFill>
                          <a:latin typeface="Montserrat"/>
                        </a:rPr>
                        <a:t>Links participants, stores lastMessage
(subset pattern), per-user unread counts</a:t>
                      </a:r>
                    </a:p>
                  </a:txBody>
                  <a:tcPr anchor="ctr">
                    <a:solidFill>
                      <a:srgbClr val="F0F4F8"/>
                    </a:solidFill>
                  </a:tcPr>
                </a:tc>
              </a:tr>
              <a:tr h="365760">
                <a:tc>
                  <a:txBody>
                    <a:bodyPr/>
                    <a:lstStyle/>
                    <a:p>
                      <a:r>
                        <a:rPr sz="1100">
                          <a:solidFill>
                            <a:srgbClr val="2D2D2D"/>
                          </a:solidFill>
                          <a:latin typeface="Montserrat"/>
                        </a:rPr>
                        <a:t>Message</a:t>
                      </a:r>
                    </a:p>
                  </a:txBody>
                  <a:tcPr anchor="ctr">
                    <a:solidFill>
                      <a:srgbClr val="FFFFFF"/>
                    </a:solidFill>
                  </a:tcPr>
                </a:tc>
                <a:tc>
                  <a:txBody>
                    <a:bodyPr/>
                    <a:lstStyle/>
                    <a:p>
                      <a:r>
                        <a:rPr sz="1100">
                          <a:solidFill>
                            <a:srgbClr val="2D2D2D"/>
                          </a:solidFill>
                          <a:latin typeface="Montserrat"/>
                        </a:rPr>
                        <a:t>conversationId, sender, content, type,
status, readBy, reactions, isDeleted</a:t>
                      </a:r>
                    </a:p>
                  </a:txBody>
                  <a:tcPr anchor="ctr">
                    <a:solidFill>
                      <a:srgbClr val="FFFFFF"/>
                    </a:solidFill>
                  </a:tcPr>
                </a:tc>
                <a:tc>
                  <a:txBody>
                    <a:bodyPr/>
                    <a:lstStyle/>
                    <a:p>
                      <a:r>
                        <a:rPr sz="1100">
                          <a:solidFill>
                            <a:srgbClr val="2D2D2D"/>
                          </a:solidFill>
                          <a:latin typeface="Montserrat"/>
                        </a:rPr>
                        <a:t>Message logs with delivery tracking,
read receipts, reactions, soft deletion</a:t>
                      </a:r>
                    </a:p>
                  </a:txBody>
                  <a:tcPr anchor="ctr">
                    <a:solidFill>
                      <a:srgbClr val="FFFFFF"/>
                    </a:solidFill>
                  </a:tcPr>
                </a:tc>
              </a:tr>
            </a:tbl>
          </a:graphicData>
        </a:graphic>
      </p:graphicFrame>
      <p:sp>
        <p:nvSpPr>
          <p:cNvPr id="10" name="TextBox 9"/>
          <p:cNvSpPr txBox="1"/>
          <p:nvPr/>
        </p:nvSpPr>
        <p:spPr>
          <a:xfrm>
            <a:off x="731520" y="4389120"/>
            <a:ext cx="9144000" cy="365760"/>
          </a:xfrm>
          <a:prstGeom prst="rect">
            <a:avLst/>
          </a:prstGeom>
          <a:noFill/>
        </p:spPr>
        <p:txBody>
          <a:bodyPr wrap="square">
            <a:spAutoFit/>
          </a:bodyPr>
          <a:lstStyle/>
          <a:p>
            <a:pPr>
              <a:lnSpc>
                <a:spcPts val="2200"/>
              </a:lnSpc>
              <a:spcAft>
                <a:spcPts val="600"/>
              </a:spcAft>
            </a:pPr>
            <a:r>
              <a:rPr sz="1400" b="1">
                <a:solidFill>
                  <a:srgbClr val="2D2D2D"/>
                </a:solidFill>
                <a:latin typeface="Montserrat"/>
              </a:rPr>
              <a:t>Socket.IO Event Contract:</a:t>
            </a:r>
          </a:p>
        </p:txBody>
      </p:sp>
      <p:sp>
        <p:nvSpPr>
          <p:cNvPr id="11" name="TextBox 10"/>
          <p:cNvSpPr txBox="1"/>
          <p:nvPr/>
        </p:nvSpPr>
        <p:spPr>
          <a:xfrm>
            <a:off x="731520" y="4754880"/>
            <a:ext cx="10058400" cy="1371600"/>
          </a:xfrm>
          <a:prstGeom prst="rect">
            <a:avLst/>
          </a:prstGeom>
          <a:noFill/>
        </p:spPr>
        <p:txBody>
          <a:bodyPr wrap="square">
            <a:spAutoFit/>
          </a:bodyPr>
          <a:lstStyle/>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message:send / message:new / message:sent / message:delivered / message:read / message:delete</a:t>
            </a:r>
          </a:p>
          <a:p>
            <a:pPr>
              <a:lnSpc>
                <a:spcPts val="2000"/>
              </a:lnSpc>
              <a:spcBef>
                <a:spcPts val="300"/>
              </a:spcBef>
              <a:spcAft>
                <a:spcPts val="600"/>
              </a:spcAft>
            </a:pPr>
            <a:r>
              <a:rPr sz="1200" b="1">
                <a:solidFill>
                  <a:srgbClr val="C00000"/>
                </a:solidFill>
                <a:latin typeface="Montserrat"/>
              </a:rPr>
              <a:t>▸  </a:t>
            </a:r>
            <a:r>
              <a:rPr sz="1200">
                <a:solidFill>
                  <a:srgbClr val="2D2D2D"/>
                </a:solidFill>
                <a:latin typeface="Montserrat"/>
              </a:rPr>
              <a:t>typing:start / typing:stop  •  user:online / user:offline  •  conversation:new / group:updated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10</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Software &amp; Hardware Requirements</a:t>
            </a:r>
          </a:p>
        </p:txBody>
      </p:sp>
      <p:graphicFrame>
        <p:nvGraphicFramePr>
          <p:cNvPr id="9" name="Table 8"/>
          <p:cNvGraphicFramePr>
            <a:graphicFrameLocks noGrp="1"/>
          </p:cNvGraphicFramePr>
          <p:nvPr/>
        </p:nvGraphicFramePr>
        <p:xfrm>
          <a:off x="457200" y="1920240"/>
          <a:ext cx="10515600" cy="4023360"/>
        </p:xfrm>
        <a:graphic>
          <a:graphicData uri="http://schemas.openxmlformats.org/drawingml/2006/table">
            <a:tbl>
              <a:tblPr firstRow="1" bandRow="1">
                <a:tableStyleId>{5C22544A-7EE6-4342-B048-85BDC9FD1C3A}</a:tableStyleId>
              </a:tblPr>
              <a:tblGrid>
                <a:gridCol w="1828800"/>
                <a:gridCol w="3657600"/>
                <a:gridCol w="5029200"/>
              </a:tblGrid>
              <a:tr h="365760">
                <a:tc>
                  <a:txBody>
                    <a:bodyPr/>
                    <a:lstStyle/>
                    <a:p>
                      <a:r>
                        <a:rPr sz="1000" b="1">
                          <a:solidFill>
                            <a:srgbClr val="FFFFFF"/>
                          </a:solidFill>
                          <a:latin typeface="Montserrat"/>
                        </a:rPr>
                        <a:t>Component</a:t>
                      </a:r>
                    </a:p>
                  </a:txBody>
                  <a:tcPr anchor="ctr">
                    <a:solidFill>
                      <a:srgbClr val="1B365D"/>
                    </a:solidFill>
                  </a:tcPr>
                </a:tc>
                <a:tc>
                  <a:txBody>
                    <a:bodyPr/>
                    <a:lstStyle/>
                    <a:p>
                      <a:r>
                        <a:rPr sz="1000" b="1">
                          <a:solidFill>
                            <a:srgbClr val="FFFFFF"/>
                          </a:solidFill>
                          <a:latin typeface="Montserrat"/>
                        </a:rPr>
                        <a:t>Specification</a:t>
                      </a:r>
                    </a:p>
                  </a:txBody>
                  <a:tcPr anchor="ctr">
                    <a:solidFill>
                      <a:srgbClr val="1B365D"/>
                    </a:solidFill>
                  </a:tcPr>
                </a:tc>
                <a:tc>
                  <a:txBody>
                    <a:bodyPr/>
                    <a:lstStyle/>
                    <a:p>
                      <a:r>
                        <a:rPr sz="1000" b="1">
                          <a:solidFill>
                            <a:srgbClr val="FFFFFF"/>
                          </a:solidFill>
                          <a:latin typeface="Montserrat"/>
                        </a:rPr>
                        <a:t>Purpose</a:t>
                      </a:r>
                    </a:p>
                  </a:txBody>
                  <a:tcPr anchor="ctr">
                    <a:solidFill>
                      <a:srgbClr val="1B365D"/>
                    </a:solidFill>
                  </a:tcPr>
                </a:tc>
              </a:tr>
              <a:tr h="365760">
                <a:tc>
                  <a:txBody>
                    <a:bodyPr/>
                    <a:lstStyle/>
                    <a:p>
                      <a:r>
                        <a:rPr sz="1000">
                          <a:solidFill>
                            <a:srgbClr val="2D2D2D"/>
                          </a:solidFill>
                          <a:latin typeface="Montserrat"/>
                        </a:rPr>
                        <a:t>Runtime</a:t>
                      </a:r>
                    </a:p>
                  </a:txBody>
                  <a:tcPr anchor="ctr">
                    <a:solidFill>
                      <a:srgbClr val="FFFFFF"/>
                    </a:solidFill>
                  </a:tcPr>
                </a:tc>
                <a:tc>
                  <a:txBody>
                    <a:bodyPr/>
                    <a:lstStyle/>
                    <a:p>
                      <a:r>
                        <a:rPr sz="1000">
                          <a:solidFill>
                            <a:srgbClr val="2D2D2D"/>
                          </a:solidFill>
                          <a:latin typeface="Montserrat"/>
                        </a:rPr>
                        <a:t>Node.js 18+</a:t>
                      </a:r>
                    </a:p>
                  </a:txBody>
                  <a:tcPr anchor="ctr">
                    <a:solidFill>
                      <a:srgbClr val="FFFFFF"/>
                    </a:solidFill>
                  </a:tcPr>
                </a:tc>
                <a:tc>
                  <a:txBody>
                    <a:bodyPr/>
                    <a:lstStyle/>
                    <a:p>
                      <a:r>
                        <a:rPr sz="1000">
                          <a:solidFill>
                            <a:srgbClr val="2D2D2D"/>
                          </a:solidFill>
                          <a:latin typeface="Montserrat"/>
                        </a:rPr>
                        <a:t>Express backend + Vite build tooling</a:t>
                      </a:r>
                    </a:p>
                  </a:txBody>
                  <a:tcPr anchor="ctr">
                    <a:solidFill>
                      <a:srgbClr val="FFFFFF"/>
                    </a:solidFill>
                  </a:tcPr>
                </a:tc>
              </a:tr>
              <a:tr h="365760">
                <a:tc>
                  <a:txBody>
                    <a:bodyPr/>
                    <a:lstStyle/>
                    <a:p>
                      <a:r>
                        <a:rPr sz="1000">
                          <a:solidFill>
                            <a:srgbClr val="2D2D2D"/>
                          </a:solidFill>
                          <a:latin typeface="Montserrat"/>
                        </a:rPr>
                        <a:t>Backend</a:t>
                      </a:r>
                    </a:p>
                  </a:txBody>
                  <a:tcPr anchor="ctr">
                    <a:solidFill>
                      <a:srgbClr val="F0F4F8"/>
                    </a:solidFill>
                  </a:tcPr>
                </a:tc>
                <a:tc>
                  <a:txBody>
                    <a:bodyPr/>
                    <a:lstStyle/>
                    <a:p>
                      <a:r>
                        <a:rPr sz="1000">
                          <a:solidFill>
                            <a:srgbClr val="2D2D2D"/>
                          </a:solidFill>
                          <a:latin typeface="Montserrat"/>
                        </a:rPr>
                        <a:t>Express.js</a:t>
                      </a:r>
                    </a:p>
                  </a:txBody>
                  <a:tcPr anchor="ctr">
                    <a:solidFill>
                      <a:srgbClr val="F0F4F8"/>
                    </a:solidFill>
                  </a:tcPr>
                </a:tc>
                <a:tc>
                  <a:txBody>
                    <a:bodyPr/>
                    <a:lstStyle/>
                    <a:p>
                      <a:r>
                        <a:rPr sz="1000">
                          <a:solidFill>
                            <a:srgbClr val="2D2D2D"/>
                          </a:solidFill>
                          <a:latin typeface="Montserrat"/>
                        </a:rPr>
                        <a:t>REST API, middleware, DB queries</a:t>
                      </a:r>
                    </a:p>
                  </a:txBody>
                  <a:tcPr anchor="ctr">
                    <a:solidFill>
                      <a:srgbClr val="F0F4F8"/>
                    </a:solidFill>
                  </a:tcPr>
                </a:tc>
              </a:tr>
              <a:tr h="365760">
                <a:tc>
                  <a:txBody>
                    <a:bodyPr/>
                    <a:lstStyle/>
                    <a:p>
                      <a:r>
                        <a:rPr sz="1000">
                          <a:solidFill>
                            <a:srgbClr val="2D2D2D"/>
                          </a:solidFill>
                          <a:latin typeface="Montserrat"/>
                        </a:rPr>
                        <a:t>Frontend</a:t>
                      </a:r>
                    </a:p>
                  </a:txBody>
                  <a:tcPr anchor="ctr">
                    <a:solidFill>
                      <a:srgbClr val="FFFFFF"/>
                    </a:solidFill>
                  </a:tcPr>
                </a:tc>
                <a:tc>
                  <a:txBody>
                    <a:bodyPr/>
                    <a:lstStyle/>
                    <a:p>
                      <a:r>
                        <a:rPr sz="1000">
                          <a:solidFill>
                            <a:srgbClr val="2D2D2D"/>
                          </a:solidFill>
                          <a:latin typeface="Montserrat"/>
                        </a:rPr>
                        <a:t>React 19 + Vite 8</a:t>
                      </a:r>
                    </a:p>
                  </a:txBody>
                  <a:tcPr anchor="ctr">
                    <a:solidFill>
                      <a:srgbClr val="FFFFFF"/>
                    </a:solidFill>
                  </a:tcPr>
                </a:tc>
                <a:tc>
                  <a:txBody>
                    <a:bodyPr/>
                    <a:lstStyle/>
                    <a:p>
                      <a:r>
                        <a:rPr sz="1000">
                          <a:solidFill>
                            <a:srgbClr val="2D2D2D"/>
                          </a:solidFill>
                          <a:latin typeface="Montserrat"/>
                        </a:rPr>
                        <a:t>UI library + fast HMR dev server</a:t>
                      </a:r>
                    </a:p>
                  </a:txBody>
                  <a:tcPr anchor="ctr">
                    <a:solidFill>
                      <a:srgbClr val="FFFFFF"/>
                    </a:solidFill>
                  </a:tcPr>
                </a:tc>
              </a:tr>
              <a:tr h="365760">
                <a:tc>
                  <a:txBody>
                    <a:bodyPr/>
                    <a:lstStyle/>
                    <a:p>
                      <a:r>
                        <a:rPr sz="1000">
                          <a:solidFill>
                            <a:srgbClr val="2D2D2D"/>
                          </a:solidFill>
                          <a:latin typeface="Montserrat"/>
                        </a:rPr>
                        <a:t>Real-Time</a:t>
                      </a:r>
                    </a:p>
                  </a:txBody>
                  <a:tcPr anchor="ctr">
                    <a:solidFill>
                      <a:srgbClr val="F0F4F8"/>
                    </a:solidFill>
                  </a:tcPr>
                </a:tc>
                <a:tc>
                  <a:txBody>
                    <a:bodyPr/>
                    <a:lstStyle/>
                    <a:p>
                      <a:r>
                        <a:rPr sz="1000">
                          <a:solidFill>
                            <a:srgbClr val="2D2D2D"/>
                          </a:solidFill>
                          <a:latin typeface="Montserrat"/>
                        </a:rPr>
                        <a:t>Socket.IO v4</a:t>
                      </a:r>
                    </a:p>
                  </a:txBody>
                  <a:tcPr anchor="ctr">
                    <a:solidFill>
                      <a:srgbClr val="F0F4F8"/>
                    </a:solidFill>
                  </a:tcPr>
                </a:tc>
                <a:tc>
                  <a:txBody>
                    <a:bodyPr/>
                    <a:lstStyle/>
                    <a:p>
                      <a:r>
                        <a:rPr sz="1000">
                          <a:solidFill>
                            <a:srgbClr val="2D2D2D"/>
                          </a:solidFill>
                          <a:latin typeface="Montserrat"/>
                        </a:rPr>
                        <a:t>WebSocket communication</a:t>
                      </a:r>
                    </a:p>
                  </a:txBody>
                  <a:tcPr anchor="ctr">
                    <a:solidFill>
                      <a:srgbClr val="F0F4F8"/>
                    </a:solidFill>
                  </a:tcPr>
                </a:tc>
              </a:tr>
              <a:tr h="365760">
                <a:tc>
                  <a:txBody>
                    <a:bodyPr/>
                    <a:lstStyle/>
                    <a:p>
                      <a:r>
                        <a:rPr sz="1000">
                          <a:solidFill>
                            <a:srgbClr val="2D2D2D"/>
                          </a:solidFill>
                          <a:latin typeface="Montserrat"/>
                        </a:rPr>
                        <a:t>Database</a:t>
                      </a:r>
                    </a:p>
                  </a:txBody>
                  <a:tcPr anchor="ctr">
                    <a:solidFill>
                      <a:srgbClr val="FFFFFF"/>
                    </a:solidFill>
                  </a:tcPr>
                </a:tc>
                <a:tc>
                  <a:txBody>
                    <a:bodyPr/>
                    <a:lstStyle/>
                    <a:p>
                      <a:r>
                        <a:rPr sz="1000">
                          <a:solidFill>
                            <a:srgbClr val="2D2D2D"/>
                          </a:solidFill>
                          <a:latin typeface="Montserrat"/>
                        </a:rPr>
                        <a:t>MongoDB Atlas + Mongoose</a:t>
                      </a:r>
                    </a:p>
                  </a:txBody>
                  <a:tcPr anchor="ctr">
                    <a:solidFill>
                      <a:srgbClr val="FFFFFF"/>
                    </a:solidFill>
                  </a:tcPr>
                </a:tc>
                <a:tc>
                  <a:txBody>
                    <a:bodyPr/>
                    <a:lstStyle/>
                    <a:p>
                      <a:r>
                        <a:rPr sz="1000">
                          <a:solidFill>
                            <a:srgbClr val="2D2D2D"/>
                          </a:solidFill>
                          <a:latin typeface="Montserrat"/>
                        </a:rPr>
                        <a:t>Cloud NoSQL with schema validation</a:t>
                      </a:r>
                    </a:p>
                  </a:txBody>
                  <a:tcPr anchor="ctr">
                    <a:solidFill>
                      <a:srgbClr val="FFFFFF"/>
                    </a:solidFill>
                  </a:tcPr>
                </a:tc>
              </a:tr>
              <a:tr h="365760">
                <a:tc>
                  <a:txBody>
                    <a:bodyPr/>
                    <a:lstStyle/>
                    <a:p>
                      <a:r>
                        <a:rPr sz="1000">
                          <a:solidFill>
                            <a:srgbClr val="2D2D2D"/>
                          </a:solidFill>
                          <a:latin typeface="Montserrat"/>
                        </a:rPr>
                        <a:t>Auth</a:t>
                      </a:r>
                    </a:p>
                  </a:txBody>
                  <a:tcPr anchor="ctr">
                    <a:solidFill>
                      <a:srgbClr val="F0F4F8"/>
                    </a:solidFill>
                  </a:tcPr>
                </a:tc>
                <a:tc>
                  <a:txBody>
                    <a:bodyPr/>
                    <a:lstStyle/>
                    <a:p>
                      <a:r>
                        <a:rPr sz="1000">
                          <a:solidFill>
                            <a:srgbClr val="2D2D2D"/>
                          </a:solidFill>
                          <a:latin typeface="Montserrat"/>
                        </a:rPr>
                        <a:t>jsonwebtoken + bcryptjs</a:t>
                      </a:r>
                    </a:p>
                  </a:txBody>
                  <a:tcPr anchor="ctr">
                    <a:solidFill>
                      <a:srgbClr val="F0F4F8"/>
                    </a:solidFill>
                  </a:tcPr>
                </a:tc>
                <a:tc>
                  <a:txBody>
                    <a:bodyPr/>
                    <a:lstStyle/>
                    <a:p>
                      <a:r>
                        <a:rPr sz="1000">
                          <a:solidFill>
                            <a:srgbClr val="2D2D2D"/>
                          </a:solidFill>
                          <a:latin typeface="Montserrat"/>
                        </a:rPr>
                        <a:t>JWT + password hashing (12 rounds)</a:t>
                      </a:r>
                    </a:p>
                  </a:txBody>
                  <a:tcPr anchor="ctr">
                    <a:solidFill>
                      <a:srgbClr val="F0F4F8"/>
                    </a:solidFill>
                  </a:tcPr>
                </a:tc>
              </a:tr>
              <a:tr h="365760">
                <a:tc>
                  <a:txBody>
                    <a:bodyPr/>
                    <a:lstStyle/>
                    <a:p>
                      <a:r>
                        <a:rPr sz="1000">
                          <a:solidFill>
                            <a:srgbClr val="2D2D2D"/>
                          </a:solidFill>
                          <a:latin typeface="Montserrat"/>
                        </a:rPr>
                        <a:t>Media</a:t>
                      </a:r>
                    </a:p>
                  </a:txBody>
                  <a:tcPr anchor="ctr">
                    <a:solidFill>
                      <a:srgbClr val="FFFFFF"/>
                    </a:solidFill>
                  </a:tcPr>
                </a:tc>
                <a:tc>
                  <a:txBody>
                    <a:bodyPr/>
                    <a:lstStyle/>
                    <a:p>
                      <a:r>
                        <a:rPr sz="1000">
                          <a:solidFill>
                            <a:srgbClr val="2D2D2D"/>
                          </a:solidFill>
                          <a:latin typeface="Montserrat"/>
                        </a:rPr>
                        <a:t>Cloudinary CDN</a:t>
                      </a:r>
                    </a:p>
                  </a:txBody>
                  <a:tcPr anchor="ctr">
                    <a:solidFill>
                      <a:srgbClr val="FFFFFF"/>
                    </a:solidFill>
                  </a:tcPr>
                </a:tc>
                <a:tc>
                  <a:txBody>
                    <a:bodyPr/>
                    <a:lstStyle/>
                    <a:p>
                      <a:r>
                        <a:rPr sz="1000">
                          <a:solidFill>
                            <a:srgbClr val="2D2D2D"/>
                          </a:solidFill>
                          <a:latin typeface="Montserrat"/>
                        </a:rPr>
                        <a:t>Image, file, voice message uploads</a:t>
                      </a:r>
                    </a:p>
                  </a:txBody>
                  <a:tcPr anchor="ctr">
                    <a:solidFill>
                      <a:srgbClr val="FFFFFF"/>
                    </a:solidFill>
                  </a:tcPr>
                </a:tc>
              </a:tr>
              <a:tr h="365760">
                <a:tc>
                  <a:txBody>
                    <a:bodyPr/>
                    <a:lstStyle/>
                    <a:p>
                      <a:r>
                        <a:rPr sz="1000">
                          <a:solidFill>
                            <a:srgbClr val="2D2D2D"/>
                          </a:solidFill>
                          <a:latin typeface="Montserrat"/>
                        </a:rPr>
                        <a:t>State Mgmt</a:t>
                      </a:r>
                    </a:p>
                  </a:txBody>
                  <a:tcPr anchor="ctr">
                    <a:solidFill>
                      <a:srgbClr val="F0F4F8"/>
                    </a:solidFill>
                  </a:tcPr>
                </a:tc>
                <a:tc>
                  <a:txBody>
                    <a:bodyPr/>
                    <a:lstStyle/>
                    <a:p>
                      <a:r>
                        <a:rPr sz="1000">
                          <a:solidFill>
                            <a:srgbClr val="2D2D2D"/>
                          </a:solidFill>
                          <a:latin typeface="Montserrat"/>
                        </a:rPr>
                        <a:t>Zustand v5</a:t>
                      </a:r>
                    </a:p>
                  </a:txBody>
                  <a:tcPr anchor="ctr">
                    <a:solidFill>
                      <a:srgbClr val="F0F4F8"/>
                    </a:solidFill>
                  </a:tcPr>
                </a:tc>
                <a:tc>
                  <a:txBody>
                    <a:bodyPr/>
                    <a:lstStyle/>
                    <a:p>
                      <a:r>
                        <a:rPr sz="1000">
                          <a:solidFill>
                            <a:srgbClr val="2D2D2D"/>
                          </a:solidFill>
                          <a:latin typeface="Montserrat"/>
                        </a:rPr>
                        <a:t>Lightweight React state management</a:t>
                      </a:r>
                    </a:p>
                  </a:txBody>
                  <a:tcPr anchor="ctr">
                    <a:solidFill>
                      <a:srgbClr val="F0F4F8"/>
                    </a:solidFill>
                  </a:tcPr>
                </a:tc>
              </a:tr>
              <a:tr h="365760">
                <a:tc>
                  <a:txBody>
                    <a:bodyPr/>
                    <a:lstStyle/>
                    <a:p>
                      <a:r>
                        <a:rPr sz="1000">
                          <a:solidFill>
                            <a:srgbClr val="2D2D2D"/>
                          </a:solidFill>
                          <a:latin typeface="Montserrat"/>
                        </a:rPr>
                        <a:t>Styling</a:t>
                      </a:r>
                    </a:p>
                  </a:txBody>
                  <a:tcPr anchor="ctr">
                    <a:solidFill>
                      <a:srgbClr val="FFFFFF"/>
                    </a:solidFill>
                  </a:tcPr>
                </a:tc>
                <a:tc>
                  <a:txBody>
                    <a:bodyPr/>
                    <a:lstStyle/>
                    <a:p>
                      <a:r>
                        <a:rPr sz="1000">
                          <a:solidFill>
                            <a:srgbClr val="2D2D2D"/>
                          </a:solidFill>
                          <a:latin typeface="Montserrat"/>
                        </a:rPr>
                        <a:t>Tailwind CSS v3, React Icons</a:t>
                      </a:r>
                    </a:p>
                  </a:txBody>
                  <a:tcPr anchor="ctr">
                    <a:solidFill>
                      <a:srgbClr val="FFFFFF"/>
                    </a:solidFill>
                  </a:tcPr>
                </a:tc>
                <a:tc>
                  <a:txBody>
                    <a:bodyPr/>
                    <a:lstStyle/>
                    <a:p>
                      <a:r>
                        <a:rPr sz="1000">
                          <a:solidFill>
                            <a:srgbClr val="2D2D2D"/>
                          </a:solidFill>
                          <a:latin typeface="Montserrat"/>
                        </a:rPr>
                        <a:t>Utility-first CSS + icon library</a:t>
                      </a:r>
                    </a:p>
                  </a:txBody>
                  <a:tcPr anchor="ctr">
                    <a:solidFill>
                      <a:srgbClr val="FFFFFF"/>
                    </a:solidFill>
                  </a:tcPr>
                </a:tc>
              </a:tr>
              <a:tr h="365760">
                <a:tc>
                  <a:txBody>
                    <a:bodyPr/>
                    <a:lstStyle/>
                    <a:p>
                      <a:r>
                        <a:rPr sz="1000">
                          <a:solidFill>
                            <a:srgbClr val="2D2D2D"/>
                          </a:solidFill>
                          <a:latin typeface="Montserrat"/>
                        </a:rPr>
                        <a:t>Security</a:t>
                      </a:r>
                    </a:p>
                  </a:txBody>
                  <a:tcPr anchor="ctr">
                    <a:solidFill>
                      <a:srgbClr val="F0F4F8"/>
                    </a:solidFill>
                  </a:tcPr>
                </a:tc>
                <a:tc>
                  <a:txBody>
                    <a:bodyPr/>
                    <a:lstStyle/>
                    <a:p>
                      <a:r>
                        <a:rPr sz="1000">
                          <a:solidFill>
                            <a:srgbClr val="2D2D2D"/>
                          </a:solidFill>
                          <a:latin typeface="Montserrat"/>
                        </a:rPr>
                        <a:t>Helmet.js, rate-limit, CryptoJS</a:t>
                      </a:r>
                    </a:p>
                  </a:txBody>
                  <a:tcPr anchor="ctr">
                    <a:solidFill>
                      <a:srgbClr val="F0F4F8"/>
                    </a:solidFill>
                  </a:tcPr>
                </a:tc>
                <a:tc>
                  <a:txBody>
                    <a:bodyPr/>
                    <a:lstStyle/>
                    <a:p>
                      <a:r>
                        <a:rPr sz="1000">
                          <a:solidFill>
                            <a:srgbClr val="2D2D2D"/>
                          </a:solidFill>
                          <a:latin typeface="Montserrat"/>
                        </a:rPr>
                        <a:t>Headers, rate limiting, AES encryption</a:t>
                      </a:r>
                    </a:p>
                  </a:txBody>
                  <a:tcPr anchor="ctr">
                    <a:solidFill>
                      <a:srgbClr val="F0F4F8"/>
                    </a:solidFill>
                  </a:tcPr>
                </a:tc>
              </a:tr>
            </a:tbl>
          </a:graphicData>
        </a:graphic>
      </p:graphicFrame>
      <p:sp>
        <p:nvSpPr>
          <p:cNvPr id="10" name="TextBox 9"/>
          <p:cNvSpPr txBox="1"/>
          <p:nvPr/>
        </p:nvSpPr>
        <p:spPr>
          <a:xfrm>
            <a:off x="731520" y="5760720"/>
            <a:ext cx="10058400" cy="457200"/>
          </a:xfrm>
          <a:prstGeom prst="rect">
            <a:avLst/>
          </a:prstGeom>
          <a:noFill/>
        </p:spPr>
        <p:txBody>
          <a:bodyPr wrap="square">
            <a:spAutoFit/>
          </a:bodyPr>
          <a:lstStyle/>
          <a:p>
            <a:pPr>
              <a:lnSpc>
                <a:spcPts val="2200"/>
              </a:lnSpc>
              <a:spcAft>
                <a:spcPts val="600"/>
              </a:spcAft>
            </a:pPr>
            <a:r>
              <a:rPr sz="1100" b="0">
                <a:solidFill>
                  <a:srgbClr val="2D2D2D"/>
                </a:solidFill>
                <a:latin typeface="Montserrat"/>
              </a:rPr>
              <a:t>Hardware: Intel i3+, 4GB RAM (8GB recommended), 2GB storage, stable internet, microphone (for voice recording)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Freeform"/>
          <p:cNvSpPr/>
          <p:nvPr/>
        </p:nvSpPr>
        <p:spPr>
          <a:xfrm>
            <a:off x="0" y="0"/>
            <a:ext cx="2926080" cy="1645920"/>
          </a:xfrm>
          <a:custGeom>
            <a:avLst/>
            <a:gdLst/>
            <a:ahLst/>
            <a:cxnLst/>
            <a:rect l="l" t="t" r="r" b="b"/>
            <a:pathLst>
              <a:path w="2926080" h="1645920">
                <a:moveTo>
                  <a:pt x="0" y="0"/>
                </a:moveTo>
                <a:lnTo>
                  <a:pt x="2926080" y="0"/>
                </a:lnTo>
                <a:lnTo>
                  <a:pt x="0" y="1645920"/>
                </a:lnTo>
                <a:close/>
              </a:path>
            </a:pathLst>
          </a:custGeom>
          <a:solidFill>
            <a:srgbClr val="C00000"/>
          </a:solidFill>
          <a:ln w="0">
            <a:noFill/>
          </a:ln>
        </p:spPr>
      </p:sp>
      <p:sp>
        <p:nvSpPr>
          <p:cNvPr id="0" name="Freeform"/>
          <p:cNvSpPr/>
          <p:nvPr/>
        </p:nvSpPr>
        <p:spPr>
          <a:xfrm>
            <a:off x="0" y="0"/>
            <a:ext cx="3657600" cy="2011680"/>
          </a:xfrm>
          <a:custGeom>
            <a:avLst/>
            <a:gdLst/>
            <a:ahLst/>
            <a:cxnLst/>
            <a:rect l="l" t="t" r="r" b="b"/>
            <a:pathLst>
              <a:path w="3657600" h="2011680">
                <a:moveTo>
                  <a:pt x="2651760" y="0"/>
                </a:moveTo>
                <a:lnTo>
                  <a:pt x="3657600" y="0"/>
                </a:lnTo>
                <a:lnTo>
                  <a:pt x="0" y="2011680"/>
                </a:lnTo>
                <a:lnTo>
                  <a:pt x="0" y="1463040"/>
                </a:lnTo>
                <a:close/>
              </a:path>
            </a:pathLst>
          </a:custGeom>
          <a:solidFill>
            <a:srgbClr val="1B365D"/>
          </a:solidFill>
          <a:ln w="0">
            <a:noFill/>
          </a:ln>
        </p:spPr>
      </p:sp>
      <p:sp>
        <p:nvSpPr>
          <p:cNvPr id="0" name="Freeform"/>
          <p:cNvSpPr/>
          <p:nvPr/>
        </p:nvSpPr>
        <p:spPr>
          <a:xfrm>
            <a:off x="8961120" y="0"/>
            <a:ext cx="3230575" cy="109728"/>
          </a:xfrm>
          <a:custGeom>
            <a:avLst/>
            <a:gdLst/>
            <a:ahLst/>
            <a:cxnLst/>
            <a:rect l="l" t="t" r="r" b="b"/>
            <a:pathLst>
              <a:path w="3230575" h="109728">
                <a:moveTo>
                  <a:pt x="182880" y="0"/>
                </a:moveTo>
                <a:lnTo>
                  <a:pt x="3230575" y="0"/>
                </a:lnTo>
                <a:lnTo>
                  <a:pt x="3230575" y="109728"/>
                </a:lnTo>
                <a:lnTo>
                  <a:pt x="0" y="109728"/>
                </a:lnTo>
                <a:close/>
              </a:path>
            </a:pathLst>
          </a:custGeom>
          <a:solidFill>
            <a:srgbClr val="C00000"/>
          </a:solidFill>
          <a:ln w="0">
            <a:noFill/>
          </a:ln>
        </p:spPr>
      </p:sp>
      <p:sp>
        <p:nvSpPr>
          <p:cNvPr id="0" name="Freeform"/>
          <p:cNvSpPr/>
          <p:nvPr/>
        </p:nvSpPr>
        <p:spPr>
          <a:xfrm>
            <a:off x="9418320" y="164592"/>
            <a:ext cx="2773375" cy="91440"/>
          </a:xfrm>
          <a:custGeom>
            <a:avLst/>
            <a:gdLst/>
            <a:ahLst/>
            <a:cxnLst/>
            <a:rect l="l" t="t" r="r" b="b"/>
            <a:pathLst>
              <a:path w="2773375" h="91440">
                <a:moveTo>
                  <a:pt x="182880" y="0"/>
                </a:moveTo>
                <a:lnTo>
                  <a:pt x="2773375" y="0"/>
                </a:lnTo>
                <a:lnTo>
                  <a:pt x="2773375" y="91440"/>
                </a:lnTo>
                <a:lnTo>
                  <a:pt x="0" y="91440"/>
                </a:lnTo>
                <a:close/>
              </a:path>
            </a:pathLst>
          </a:custGeom>
          <a:solidFill>
            <a:srgbClr val="1B365D"/>
          </a:solidFill>
          <a:ln w="0">
            <a:noFill/>
          </a:ln>
        </p:spPr>
      </p:sp>
      <p:sp>
        <p:nvSpPr>
          <p:cNvPr id="2" name="TextBox 1"/>
          <p:cNvSpPr txBox="1"/>
          <p:nvPr/>
        </p:nvSpPr>
        <p:spPr>
          <a:xfrm>
            <a:off x="8686800" y="320040"/>
            <a:ext cx="3291840" cy="502920"/>
          </a:xfrm>
          <a:prstGeom prst="rect">
            <a:avLst/>
          </a:prstGeom>
          <a:noFill/>
        </p:spPr>
        <p:txBody>
          <a:bodyPr wrap="square">
            <a:spAutoFit/>
          </a:bodyPr>
          <a:lstStyle/>
          <a:p>
            <a:pPr algn="r"/>
            <a:r>
              <a:rPr sz="2000" b="1">
                <a:solidFill>
                  <a:srgbClr val="1B365D"/>
                </a:solidFill>
                <a:latin typeface="Montserrat"/>
              </a:rPr>
              <a:t>ANURAG UNIVERSITY</a:t>
            </a:r>
          </a:p>
        </p:txBody>
      </p:sp>
      <p:sp>
        <p:nvSpPr>
          <p:cNvPr id="3" name="Rectangle 2"/>
          <p:cNvSpPr/>
          <p:nvPr/>
        </p:nvSpPr>
        <p:spPr>
          <a:xfrm>
            <a:off x="457200" y="6355080"/>
            <a:ext cx="11277295" cy="1905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828800" cy="320040"/>
          </a:xfrm>
          <a:prstGeom prst="rect">
            <a:avLst/>
          </a:prstGeom>
          <a:noFill/>
        </p:spPr>
        <p:txBody>
          <a:bodyPr wrap="none">
            <a:spAutoFit/>
          </a:bodyPr>
          <a:lstStyle/>
          <a:p>
            <a:pPr algn="l"/>
            <a:r>
              <a:rPr sz="1000">
                <a:solidFill>
                  <a:srgbClr val="666666"/>
                </a:solidFill>
                <a:latin typeface="Montserrat"/>
              </a:rPr>
              <a:t>7/7/2026</a:t>
            </a:r>
          </a:p>
        </p:txBody>
      </p:sp>
      <p:sp>
        <p:nvSpPr>
          <p:cNvPr id="5" name="TextBox 4"/>
          <p:cNvSpPr txBox="1"/>
          <p:nvPr/>
        </p:nvSpPr>
        <p:spPr>
          <a:xfrm>
            <a:off x="3657600" y="6446520"/>
            <a:ext cx="4876495" cy="320040"/>
          </a:xfrm>
          <a:prstGeom prst="rect">
            <a:avLst/>
          </a:prstGeom>
          <a:noFill/>
        </p:spPr>
        <p:txBody>
          <a:bodyPr wrap="none">
            <a:spAutoFit/>
          </a:bodyPr>
          <a:lstStyle/>
          <a:p>
            <a:pPr algn="ctr"/>
            <a:r>
              <a:rPr sz="1000">
                <a:solidFill>
                  <a:srgbClr val="666666"/>
                </a:solidFill>
                <a:latin typeface="Montserrat"/>
              </a:rPr>
              <a:t>Department of Information Technology</a:t>
            </a:r>
          </a:p>
        </p:txBody>
      </p:sp>
      <p:sp>
        <p:nvSpPr>
          <p:cNvPr id="6" name="TextBox 5"/>
          <p:cNvSpPr txBox="1"/>
          <p:nvPr/>
        </p:nvSpPr>
        <p:spPr>
          <a:xfrm>
            <a:off x="10972800" y="6446520"/>
            <a:ext cx="914400" cy="320040"/>
          </a:xfrm>
          <a:prstGeom prst="rect">
            <a:avLst/>
          </a:prstGeom>
          <a:noFill/>
        </p:spPr>
        <p:txBody>
          <a:bodyPr wrap="none">
            <a:spAutoFit/>
          </a:bodyPr>
          <a:lstStyle/>
          <a:p>
            <a:pPr algn="r"/>
            <a:r>
              <a:rPr sz="1000">
                <a:solidFill>
                  <a:srgbClr val="666666"/>
                </a:solidFill>
                <a:latin typeface="Montserrat"/>
              </a:rPr>
              <a:t>11</a:t>
            </a:r>
          </a:p>
        </p:txBody>
      </p:sp>
      <p:sp>
        <p:nvSpPr>
          <p:cNvPr id="7" name="Rectangle 6"/>
          <p:cNvSpPr/>
          <p:nvPr/>
        </p:nvSpPr>
        <p:spPr>
          <a:xfrm>
            <a:off x="731520" y="1188720"/>
            <a:ext cx="73152" cy="5029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097280"/>
            <a:ext cx="9144000" cy="640080"/>
          </a:xfrm>
          <a:prstGeom prst="rect">
            <a:avLst/>
          </a:prstGeom>
          <a:noFill/>
        </p:spPr>
        <p:txBody>
          <a:bodyPr wrap="none">
            <a:spAutoFit/>
          </a:bodyPr>
          <a:lstStyle/>
          <a:p>
            <a:r>
              <a:rPr sz="2800" b="1">
                <a:solidFill>
                  <a:srgbClr val="1B365D"/>
                </a:solidFill>
                <a:latin typeface="Montserrat"/>
              </a:rPr>
              <a:t>Project Timeline &amp; References</a:t>
            </a:r>
          </a:p>
        </p:txBody>
      </p:sp>
      <p:graphicFrame>
        <p:nvGraphicFramePr>
          <p:cNvPr id="9" name="Table 8"/>
          <p:cNvGraphicFramePr>
            <a:graphicFrameLocks noGrp="1"/>
          </p:cNvGraphicFramePr>
          <p:nvPr/>
        </p:nvGraphicFramePr>
        <p:xfrm>
          <a:off x="731520" y="1920240"/>
          <a:ext cx="9144000" cy="3291840"/>
        </p:xfrm>
        <a:graphic>
          <a:graphicData uri="http://schemas.openxmlformats.org/drawingml/2006/table">
            <a:tbl>
              <a:tblPr firstRow="1" bandRow="1">
                <a:tableStyleId>{5C22544A-7EE6-4342-B048-85BDC9FD1C3A}</a:tableStyleId>
              </a:tblPr>
              <a:tblGrid>
                <a:gridCol w="3657600"/>
                <a:gridCol w="1371600"/>
                <a:gridCol w="1371600"/>
                <a:gridCol w="1371600"/>
                <a:gridCol w="1371600"/>
              </a:tblGrid>
              <a:tr h="365760">
                <a:tc>
                  <a:txBody>
                    <a:bodyPr/>
                    <a:lstStyle/>
                    <a:p>
                      <a:r>
                        <a:rPr sz="1100" b="1">
                          <a:solidFill>
                            <a:srgbClr val="FFFFFF"/>
                          </a:solidFill>
                          <a:latin typeface="Montserrat"/>
                        </a:rPr>
                        <a:t>Phase</a:t>
                      </a:r>
                    </a:p>
                  </a:txBody>
                  <a:tcPr anchor="ctr">
                    <a:solidFill>
                      <a:srgbClr val="1B365D"/>
                    </a:solidFill>
                  </a:tcPr>
                </a:tc>
                <a:tc>
                  <a:txBody>
                    <a:bodyPr/>
                    <a:lstStyle/>
                    <a:p>
                      <a:r>
                        <a:rPr sz="1100" b="1">
                          <a:solidFill>
                            <a:srgbClr val="FFFFFF"/>
                          </a:solidFill>
                          <a:latin typeface="Montserrat"/>
                        </a:rPr>
                        <a:t>Month 1</a:t>
                      </a:r>
                    </a:p>
                  </a:txBody>
                  <a:tcPr anchor="ctr">
                    <a:solidFill>
                      <a:srgbClr val="1B365D"/>
                    </a:solidFill>
                  </a:tcPr>
                </a:tc>
                <a:tc>
                  <a:txBody>
                    <a:bodyPr/>
                    <a:lstStyle/>
                    <a:p>
                      <a:r>
                        <a:rPr sz="1100" b="1">
                          <a:solidFill>
                            <a:srgbClr val="FFFFFF"/>
                          </a:solidFill>
                          <a:latin typeface="Montserrat"/>
                        </a:rPr>
                        <a:t>Month 2</a:t>
                      </a:r>
                    </a:p>
                  </a:txBody>
                  <a:tcPr anchor="ctr">
                    <a:solidFill>
                      <a:srgbClr val="1B365D"/>
                    </a:solidFill>
                  </a:tcPr>
                </a:tc>
                <a:tc>
                  <a:txBody>
                    <a:bodyPr/>
                    <a:lstStyle/>
                    <a:p>
                      <a:r>
                        <a:rPr sz="1100" b="1">
                          <a:solidFill>
                            <a:srgbClr val="FFFFFF"/>
                          </a:solidFill>
                          <a:latin typeface="Montserrat"/>
                        </a:rPr>
                        <a:t>Month 3</a:t>
                      </a:r>
                    </a:p>
                  </a:txBody>
                  <a:tcPr anchor="ctr">
                    <a:solidFill>
                      <a:srgbClr val="1B365D"/>
                    </a:solidFill>
                  </a:tcPr>
                </a:tc>
                <a:tc>
                  <a:txBody>
                    <a:bodyPr/>
                    <a:lstStyle/>
                    <a:p>
                      <a:r>
                        <a:rPr sz="1100" b="1">
                          <a:solidFill>
                            <a:srgbClr val="FFFFFF"/>
                          </a:solidFill>
                          <a:latin typeface="Montserrat"/>
                        </a:rPr>
                        <a:t>Month 4</a:t>
                      </a:r>
                    </a:p>
                  </a:txBody>
                  <a:tcPr anchor="ctr">
                    <a:solidFill>
                      <a:srgbClr val="1B365D"/>
                    </a:solidFill>
                  </a:tcPr>
                </a:tc>
              </a:tr>
              <a:tr h="365760">
                <a:tc>
                  <a:txBody>
                    <a:bodyPr/>
                    <a:lstStyle/>
                    <a:p>
                      <a:r>
                        <a:rPr sz="1100">
                          <a:solidFill>
                            <a:srgbClr val="2D2D2D"/>
                          </a:solidFill>
                          <a:latin typeface="Montserrat"/>
                        </a:rPr>
                        <a:t>Requirement Analysis &amp; Survey</a:t>
                      </a:r>
                    </a:p>
                  </a:txBody>
                  <a:tcPr anchor="ctr">
                    <a:solidFill>
                      <a:srgbClr val="FFFFFF"/>
                    </a:solidFill>
                  </a:tcPr>
                </a:tc>
                <a:tc>
                  <a:txBody>
                    <a:bodyPr/>
                    <a:lstStyle/>
                    <a:p>
                      <a:r>
                        <a:rPr sz="1100">
                          <a:solidFill>
                            <a:srgbClr val="2D2D2D"/>
                          </a:solidFill>
                          <a:latin typeface="Montserrat"/>
                        </a:rPr>
                        <a:t>✓</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r>
              <a:tr h="365760">
                <a:tc>
                  <a:txBody>
                    <a:bodyPr/>
                    <a:lstStyle/>
                    <a:p>
                      <a:r>
                        <a:rPr sz="1100">
                          <a:solidFill>
                            <a:srgbClr val="2D2D2D"/>
                          </a:solidFill>
                          <a:latin typeface="Montserrat"/>
                        </a:rPr>
                        <a:t>System Design &amp; DB Schema</a:t>
                      </a:r>
                    </a:p>
                  </a:txBody>
                  <a:tcPr anchor="ctr">
                    <a:solidFill>
                      <a:srgbClr val="F0F4F8"/>
                    </a:solidFill>
                  </a:tcPr>
                </a:tc>
                <a:tc>
                  <a:txBody>
                    <a:bodyPr/>
                    <a:lstStyle/>
                    <a:p>
                      <a:r>
                        <a:rPr sz="1100">
                          <a:solidFill>
                            <a:srgbClr val="2D2D2D"/>
                          </a:solidFill>
                          <a:latin typeface="Montserrat"/>
                        </a:rPr>
                        <a:t>✓</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r>
              <a:tr h="365760">
                <a:tc>
                  <a:txBody>
                    <a:bodyPr/>
                    <a:lstStyle/>
                    <a:p>
                      <a:r>
                        <a:rPr sz="1100">
                          <a:solidFill>
                            <a:srgbClr val="2D2D2D"/>
                          </a:solidFill>
                          <a:latin typeface="Montserrat"/>
                        </a:rPr>
                        <a:t>Backend REST API Development</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c>
                  <a:txBody>
                    <a:bodyPr/>
                    <a:lstStyle/>
                    <a:p>
                      <a:r>
                        <a:rPr sz="1100">
                          <a:solidFill>
                            <a:srgbClr val="2D2D2D"/>
                          </a:solidFill>
                          <a:latin typeface="Montserrat"/>
                        </a:rPr>
                        <a:t>✓</a:t>
                      </a:r>
                    </a:p>
                  </a:txBody>
                  <a:tcPr anchor="ctr">
                    <a:solidFill>
                      <a:srgbClr val="FFFFFF"/>
                    </a:solidFill>
                  </a:tcPr>
                </a:tc>
                <a:tc>
                  <a:txBody>
                    <a:bodyPr/>
                    <a:lstStyle/>
                    <a:p>
                      <a:r>
                        <a:rPr sz="1100">
                          <a:solidFill>
                            <a:srgbClr val="2D2D2D"/>
                          </a:solidFill>
                          <a:latin typeface="Montserrat"/>
                        </a:rPr>
                        <a:t>✓</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r>
              <a:tr h="365760">
                <a:tc>
                  <a:txBody>
                    <a:bodyPr/>
                    <a:lstStyle/>
                    <a:p>
                      <a:r>
                        <a:rPr sz="1100">
                          <a:solidFill>
                            <a:srgbClr val="2D2D2D"/>
                          </a:solidFill>
                          <a:latin typeface="Montserrat"/>
                        </a:rPr>
                        <a:t>Socket.IO Event Handlers</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a:t>
                      </a:r>
                    </a:p>
                  </a:txBody>
                  <a:tcPr anchor="ctr">
                    <a:solidFill>
                      <a:srgbClr val="F0F4F8"/>
                    </a:solidFill>
                  </a:tcPr>
                </a:tc>
                <a:tc>
                  <a:txBody>
                    <a:bodyPr/>
                    <a:lstStyle/>
                    <a:p>
                      <a:r>
                        <a:rPr sz="1100">
                          <a:solidFill>
                            <a:srgbClr val="2D2D2D"/>
                          </a:solidFill>
                          <a:latin typeface="Montserrat"/>
                        </a:rPr>
                        <a:t>✓</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r>
              <a:tr h="365760">
                <a:tc>
                  <a:txBody>
                    <a:bodyPr/>
                    <a:lstStyle/>
                    <a:p>
                      <a:r>
                        <a:rPr sz="1100">
                          <a:solidFill>
                            <a:srgbClr val="2D2D2D"/>
                          </a:solidFill>
                          <a:latin typeface="Montserrat"/>
                        </a:rPr>
                        <a:t>Frontend Components</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c>
                  <a:txBody>
                    <a:bodyPr/>
                    <a:lstStyle/>
                    <a:p>
                      <a:r>
                        <a:rPr sz="1100">
                          <a:solidFill>
                            <a:srgbClr val="2D2D2D"/>
                          </a:solidFill>
                          <a:latin typeface="Montserrat"/>
                        </a:rPr>
                        <a:t>✓</a:t>
                      </a:r>
                    </a:p>
                  </a:txBody>
                  <a:tcPr anchor="ctr">
                    <a:solidFill>
                      <a:srgbClr val="FFFFFF"/>
                    </a:solidFill>
                  </a:tcPr>
                </a:tc>
                <a:tc>
                  <a:txBody>
                    <a:bodyPr/>
                    <a:lstStyle/>
                    <a:p>
                      <a:r>
                        <a:rPr sz="1100">
                          <a:solidFill>
                            <a:srgbClr val="2D2D2D"/>
                          </a:solidFill>
                          <a:latin typeface="Montserrat"/>
                        </a:rPr>
                        <a:t>✓</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r>
              <a:tr h="365760">
                <a:tc>
                  <a:txBody>
                    <a:bodyPr/>
                    <a:lstStyle/>
                    <a:p>
                      <a:r>
                        <a:rPr sz="1100">
                          <a:solidFill>
                            <a:srgbClr val="2D2D2D"/>
                          </a:solidFill>
                          <a:latin typeface="Montserrat"/>
                        </a:rPr>
                        <a:t>Integration &amp; Testing</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a:t>
                      </a:r>
                    </a:p>
                  </a:txBody>
                  <a:tcPr anchor="ctr">
                    <a:solidFill>
                      <a:srgbClr val="F0F4F8"/>
                    </a:solidFill>
                  </a:tcPr>
                </a:tc>
                <a:tc>
                  <a:txBody>
                    <a:bodyPr/>
                    <a:lstStyle/>
                    <a:p>
                      <a:r>
                        <a:rPr sz="1100">
                          <a:solidFill>
                            <a:srgbClr val="2D2D2D"/>
                          </a:solidFill>
                          <a:latin typeface="Montserrat"/>
                        </a:rPr>
                        <a:t>✓</a:t>
                      </a:r>
                    </a:p>
                  </a:txBody>
                  <a:tcPr anchor="ctr">
                    <a:solidFill>
                      <a:srgbClr val="F0F4F8"/>
                    </a:solidFill>
                  </a:tcPr>
                </a:tc>
              </a:tr>
              <a:tr h="365760">
                <a:tc>
                  <a:txBody>
                    <a:bodyPr/>
                    <a:lstStyle/>
                    <a:p>
                      <a:r>
                        <a:rPr sz="1100">
                          <a:solidFill>
                            <a:srgbClr val="2D2D2D"/>
                          </a:solidFill>
                          <a:latin typeface="Montserrat"/>
                        </a:rPr>
                        <a:t>Cloud Deployment</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c>
                  <a:txBody>
                    <a:bodyPr/>
                    <a:lstStyle/>
                    <a:p>
                      <a:r>
                        <a:rPr sz="1100">
                          <a:solidFill>
                            <a:srgbClr val="2D2D2D"/>
                          </a:solidFill>
                          <a:latin typeface="Montserrat"/>
                        </a:rPr>
                        <a:t/>
                      </a:r>
                    </a:p>
                  </a:txBody>
                  <a:tcPr anchor="ctr">
                    <a:solidFill>
                      <a:srgbClr val="FFFFFF"/>
                    </a:solidFill>
                  </a:tcPr>
                </a:tc>
                <a:tc>
                  <a:txBody>
                    <a:bodyPr/>
                    <a:lstStyle/>
                    <a:p>
                      <a:r>
                        <a:rPr sz="1100">
                          <a:solidFill>
                            <a:srgbClr val="2D2D2D"/>
                          </a:solidFill>
                          <a:latin typeface="Montserrat"/>
                        </a:rPr>
                        <a:t>✓</a:t>
                      </a:r>
                    </a:p>
                  </a:txBody>
                  <a:tcPr anchor="ctr">
                    <a:solidFill>
                      <a:srgbClr val="FFFFFF"/>
                    </a:solidFill>
                  </a:tcPr>
                </a:tc>
              </a:tr>
              <a:tr h="365760">
                <a:tc>
                  <a:txBody>
                    <a:bodyPr/>
                    <a:lstStyle/>
                    <a:p>
                      <a:r>
                        <a:rPr sz="1100">
                          <a:solidFill>
                            <a:srgbClr val="2D2D2D"/>
                          </a:solidFill>
                          <a:latin typeface="Montserrat"/>
                        </a:rPr>
                        <a:t>Documentation &amp; Reporting</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
                      </a:r>
                    </a:p>
                  </a:txBody>
                  <a:tcPr anchor="ctr">
                    <a:solidFill>
                      <a:srgbClr val="F0F4F8"/>
                    </a:solidFill>
                  </a:tcPr>
                </a:tc>
                <a:tc>
                  <a:txBody>
                    <a:bodyPr/>
                    <a:lstStyle/>
                    <a:p>
                      <a:r>
                        <a:rPr sz="1100">
                          <a:solidFill>
                            <a:srgbClr val="2D2D2D"/>
                          </a:solidFill>
                          <a:latin typeface="Montserrat"/>
                        </a:rPr>
                        <a:t>✓</a:t>
                      </a:r>
                    </a:p>
                  </a:txBody>
                  <a:tcPr anchor="ctr">
                    <a:solidFill>
                      <a:srgbClr val="F0F4F8"/>
                    </a:solidFill>
                  </a:tcPr>
                </a:tc>
              </a:tr>
            </a:tbl>
          </a:graphicData>
        </a:graphic>
      </p:graphicFrame>
      <p:sp>
        <p:nvSpPr>
          <p:cNvPr id="10" name="TextBox 9"/>
          <p:cNvSpPr txBox="1"/>
          <p:nvPr/>
        </p:nvSpPr>
        <p:spPr>
          <a:xfrm>
            <a:off x="731520" y="5120640"/>
            <a:ext cx="9144000" cy="274320"/>
          </a:xfrm>
          <a:prstGeom prst="rect">
            <a:avLst/>
          </a:prstGeom>
          <a:noFill/>
        </p:spPr>
        <p:txBody>
          <a:bodyPr wrap="square">
            <a:spAutoFit/>
          </a:bodyPr>
          <a:lstStyle/>
          <a:p>
            <a:pPr>
              <a:lnSpc>
                <a:spcPts val="2200"/>
              </a:lnSpc>
              <a:spcAft>
                <a:spcPts val="600"/>
              </a:spcAft>
            </a:pPr>
            <a:r>
              <a:rPr sz="1400" b="1">
                <a:solidFill>
                  <a:srgbClr val="2D2D2D"/>
                </a:solidFill>
                <a:latin typeface="Montserrat"/>
              </a:rPr>
              <a:t>Key References:</a:t>
            </a:r>
          </a:p>
        </p:txBody>
      </p:sp>
      <p:sp>
        <p:nvSpPr>
          <p:cNvPr id="11" name="TextBox 10"/>
          <p:cNvSpPr txBox="1"/>
          <p:nvPr/>
        </p:nvSpPr>
        <p:spPr>
          <a:xfrm>
            <a:off x="731520" y="5394960"/>
            <a:ext cx="10058400" cy="914400"/>
          </a:xfrm>
          <a:prstGeom prst="rect">
            <a:avLst/>
          </a:prstGeom>
          <a:noFill/>
        </p:spPr>
        <p:txBody>
          <a:bodyPr wrap="square">
            <a:spAutoFit/>
          </a:bodyPr>
          <a:lstStyle/>
          <a:p>
            <a:pPr>
              <a:lnSpc>
                <a:spcPts val="2000"/>
              </a:lnSpc>
              <a:spcBef>
                <a:spcPts val="300"/>
              </a:spcBef>
              <a:spcAft>
                <a:spcPts val="600"/>
              </a:spcAft>
            </a:pPr>
            <a:r>
              <a:rPr sz="1100" b="1">
                <a:solidFill>
                  <a:srgbClr val="C00000"/>
                </a:solidFill>
                <a:latin typeface="Montserrat"/>
              </a:rPr>
              <a:t>▸  </a:t>
            </a:r>
            <a:r>
              <a:rPr sz="1100">
                <a:solidFill>
                  <a:srgbClr val="2D2D2D"/>
                </a:solidFill>
                <a:latin typeface="Montserrat"/>
              </a:rPr>
              <a:t>Patel &amp; Desai (2023) — MERN + Socket.IO Chat  •  Zhang et al. (2022) — WebSocket Performance</a:t>
            </a:r>
          </a:p>
          <a:p>
            <a:pPr>
              <a:lnSpc>
                <a:spcPts val="2000"/>
              </a:lnSpc>
              <a:spcBef>
                <a:spcPts val="300"/>
              </a:spcBef>
              <a:spcAft>
                <a:spcPts val="600"/>
              </a:spcAft>
            </a:pPr>
            <a:r>
              <a:rPr sz="1100" b="1">
                <a:solidFill>
                  <a:srgbClr val="C00000"/>
                </a:solidFill>
                <a:latin typeface="Montserrat"/>
              </a:rPr>
              <a:t>▸  </a:t>
            </a:r>
            <a:r>
              <a:rPr sz="1100">
                <a:solidFill>
                  <a:srgbClr val="2D2D2D"/>
                </a:solidFill>
                <a:latin typeface="Montserrat"/>
              </a:rPr>
              <a:t>Kumar &amp; Singh (2024) — JWT Security  •  Sharma &amp; Gupta (2025) — Group Messaging Architecture</a:t>
            </a:r>
          </a:p>
          <a:p>
            <a:pPr>
              <a:lnSpc>
                <a:spcPts val="2000"/>
              </a:lnSpc>
              <a:spcBef>
                <a:spcPts val="300"/>
              </a:spcBef>
              <a:spcAft>
                <a:spcPts val="600"/>
              </a:spcAft>
            </a:pPr>
            <a:r>
              <a:rPr sz="1100" b="1">
                <a:solidFill>
                  <a:srgbClr val="C00000"/>
                </a:solidFill>
                <a:latin typeface="Montserrat"/>
              </a:rPr>
              <a:t>▸  </a:t>
            </a:r>
            <a:r>
              <a:rPr sz="1100">
                <a:solidFill>
                  <a:srgbClr val="2D2D2D"/>
                </a:solidFill>
                <a:latin typeface="Montserrat"/>
              </a:rPr>
              <a:t>MongoDB Atlas Docs  •  React Docs  •  Express.js Docs  •  Socket.IO Docs  •  Cloudinary 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