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0" name="Freeform"/>
          <p:cNvSpPr/>
          <p:nvPr/>
        </p:nvSpPr>
        <p:spPr>
          <a:xfrm>
            <a:off x="0" y="0"/>
            <a:ext cx="2926080" cy="1645920"/>
          </a:xfrm>
          <a:custGeom>
            <a:avLst/>
            <a:gdLst/>
            <a:ahLst/>
            <a:cxnLst/>
            <a:rect l="l" t="t" r="r" b="b"/>
            <a:pathLst>
              <a:path w="2926080" h="1645920">
                <a:moveTo>
                  <a:pt x="0" y="0"/>
                </a:moveTo>
                <a:lnTo>
                  <a:pt x="2926080" y="0"/>
                </a:lnTo>
                <a:lnTo>
                  <a:pt x="0" y="1645920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0" y="0"/>
            <a:ext cx="3657600" cy="2011680"/>
          </a:xfrm>
          <a:custGeom>
            <a:avLst/>
            <a:gdLst/>
            <a:ahLst/>
            <a:cxnLst/>
            <a:rect l="l" t="t" r="r" b="b"/>
            <a:pathLst>
              <a:path w="3657600" h="2011680">
                <a:moveTo>
                  <a:pt x="2651760" y="0"/>
                </a:moveTo>
                <a:lnTo>
                  <a:pt x="3657600" y="0"/>
                </a:lnTo>
                <a:lnTo>
                  <a:pt x="0" y="2011680"/>
                </a:lnTo>
                <a:lnTo>
                  <a:pt x="0" y="1463040"/>
                </a:lnTo>
                <a:close/>
              </a:path>
            </a:pathLst>
          </a:custGeom>
          <a:solidFill>
            <a:srgbClr val="1B365D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8961120" y="0"/>
            <a:ext cx="3230575" cy="109728"/>
          </a:xfrm>
          <a:custGeom>
            <a:avLst/>
            <a:gdLst/>
            <a:ahLst/>
            <a:cxnLst/>
            <a:rect l="l" t="t" r="r" b="b"/>
            <a:pathLst>
              <a:path w="3230575" h="109728">
                <a:moveTo>
                  <a:pt x="182880" y="0"/>
                </a:moveTo>
                <a:lnTo>
                  <a:pt x="3230575" y="0"/>
                </a:lnTo>
                <a:lnTo>
                  <a:pt x="3230575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9418320" y="164592"/>
            <a:ext cx="2773375" cy="91440"/>
          </a:xfrm>
          <a:custGeom>
            <a:avLst/>
            <a:gdLst/>
            <a:ahLst/>
            <a:cxnLst/>
            <a:rect l="l" t="t" r="r" b="b"/>
            <a:pathLst>
              <a:path w="2773375" h="91440">
                <a:moveTo>
                  <a:pt x="182880" y="0"/>
                </a:moveTo>
                <a:lnTo>
                  <a:pt x="2773375" y="0"/>
                </a:lnTo>
                <a:lnTo>
                  <a:pt x="2773375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1B365D"/>
          </a:solidFill>
          <a:ln w="0">
            <a:noFill/>
          </a:ln>
        </p:spPr>
      </p:sp>
      <p:sp>
        <p:nvSpPr>
          <p:cNvPr id="2" name="TextBox 1"/>
          <p:cNvSpPr txBox="1"/>
          <p:nvPr/>
        </p:nvSpPr>
        <p:spPr>
          <a:xfrm>
            <a:off x="8686800" y="320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B365D"/>
                </a:solidFill>
                <a:latin typeface="Montserrat"/>
              </a:rPr>
              <a:t>ANURAG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Montserrat"/>
              </a:rPr>
              <a:t>7/7/2026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Montserrat"/>
              </a:rPr>
              <a:t>Department of Information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Montserra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B365D"/>
                </a:solidFill>
                <a:latin typeface="Montserrat"/>
              </a:rPr>
              <a:t>Chat Sphere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743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66666"/>
                </a:solidFill>
                <a:latin typeface="Montserrat"/>
              </a:rPr>
              <a:t>A Full-Stack Web Application for Real time communication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3840480"/>
            <a:ext cx="45720" cy="8686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0" y="3840480"/>
            <a:ext cx="3474720" cy="868680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39319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00000"/>
                </a:solidFill>
                <a:latin typeface="Montserrat"/>
              </a:rPr>
              <a:t>STUDENT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1605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D2D2D"/>
                </a:solidFill>
                <a:latin typeface="Montserrat"/>
              </a:rPr>
              <a:t>PurushothamReddy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43891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D2D2D"/>
                </a:solidFill>
                <a:latin typeface="Montserrat"/>
              </a:rPr>
              <a:t>HT. No: 23EG112D51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840480"/>
            <a:ext cx="45720" cy="8686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3840480"/>
            <a:ext cx="3474720" cy="868680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9319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00000"/>
                </a:solidFill>
                <a:latin typeface="Montserrat"/>
              </a:rPr>
              <a:t>PROJECT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1605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D2D2D"/>
                </a:solidFill>
                <a:latin typeface="Montserrat"/>
              </a:rPr>
              <a:t>Dr. Niteesha Sharma, PhD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3891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D2D2D"/>
                </a:solidFill>
                <a:latin typeface="Montserrat"/>
              </a:rPr>
              <a:t>HOD, IT Dept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0" name="Freeform"/>
          <p:cNvSpPr/>
          <p:nvPr/>
        </p:nvSpPr>
        <p:spPr>
          <a:xfrm>
            <a:off x="0" y="0"/>
            <a:ext cx="2926080" cy="1645920"/>
          </a:xfrm>
          <a:custGeom>
            <a:avLst/>
            <a:gdLst/>
            <a:ahLst/>
            <a:cxnLst/>
            <a:rect l="l" t="t" r="r" b="b"/>
            <a:pathLst>
              <a:path w="2926080" h="1645920">
                <a:moveTo>
                  <a:pt x="0" y="0"/>
                </a:moveTo>
                <a:lnTo>
                  <a:pt x="2926080" y="0"/>
                </a:lnTo>
                <a:lnTo>
                  <a:pt x="0" y="1645920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0" y="0"/>
            <a:ext cx="3657600" cy="2011680"/>
          </a:xfrm>
          <a:custGeom>
            <a:avLst/>
            <a:gdLst/>
            <a:ahLst/>
            <a:cxnLst/>
            <a:rect l="l" t="t" r="r" b="b"/>
            <a:pathLst>
              <a:path w="3657600" h="2011680">
                <a:moveTo>
                  <a:pt x="2651760" y="0"/>
                </a:moveTo>
                <a:lnTo>
                  <a:pt x="3657600" y="0"/>
                </a:lnTo>
                <a:lnTo>
                  <a:pt x="0" y="2011680"/>
                </a:lnTo>
                <a:lnTo>
                  <a:pt x="0" y="1463040"/>
                </a:lnTo>
                <a:close/>
              </a:path>
            </a:pathLst>
          </a:custGeom>
          <a:solidFill>
            <a:srgbClr val="1B365D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8961120" y="0"/>
            <a:ext cx="3230575" cy="109728"/>
          </a:xfrm>
          <a:custGeom>
            <a:avLst/>
            <a:gdLst/>
            <a:ahLst/>
            <a:cxnLst/>
            <a:rect l="l" t="t" r="r" b="b"/>
            <a:pathLst>
              <a:path w="3230575" h="109728">
                <a:moveTo>
                  <a:pt x="182880" y="0"/>
                </a:moveTo>
                <a:lnTo>
                  <a:pt x="3230575" y="0"/>
                </a:lnTo>
                <a:lnTo>
                  <a:pt x="3230575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9418320" y="164592"/>
            <a:ext cx="2773375" cy="91440"/>
          </a:xfrm>
          <a:custGeom>
            <a:avLst/>
            <a:gdLst/>
            <a:ahLst/>
            <a:cxnLst/>
            <a:rect l="l" t="t" r="r" b="b"/>
            <a:pathLst>
              <a:path w="2773375" h="91440">
                <a:moveTo>
                  <a:pt x="182880" y="0"/>
                </a:moveTo>
                <a:lnTo>
                  <a:pt x="2773375" y="0"/>
                </a:lnTo>
                <a:lnTo>
                  <a:pt x="2773375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1B365D"/>
          </a:solidFill>
          <a:ln w="0">
            <a:noFill/>
          </a:ln>
        </p:spPr>
      </p:sp>
      <p:sp>
        <p:nvSpPr>
          <p:cNvPr id="2" name="TextBox 1"/>
          <p:cNvSpPr txBox="1"/>
          <p:nvPr/>
        </p:nvSpPr>
        <p:spPr>
          <a:xfrm>
            <a:off x="8686800" y="320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B365D"/>
                </a:solidFill>
                <a:latin typeface="Montserrat"/>
              </a:rPr>
              <a:t>ANURAG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Montserrat"/>
              </a:rPr>
              <a:t>7/7/2026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Montserrat"/>
              </a:rPr>
              <a:t>Department of Information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Montserrat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73152" cy="5029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972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365D"/>
                </a:solidFill>
                <a:latin typeface="Montserrat"/>
              </a:rPr>
              <a:t>Abstract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</a:pPr>
            <a:r>
              <a:rPr sz="1500" b="0">
                <a:solidFill>
                  <a:srgbClr val="2D2D2D"/>
                </a:solidFill>
                <a:latin typeface="Montserrat"/>
              </a:rPr>
              <a:t>Chat Sphere is a full-stack real-time messaging web application built on the MERN-style stack (React, Express, Node.js, and MongoDB) that delivers a comprehensive communication platform, enabling users to exchange instant text messages, share images and files via Cloudinary, create and manage group conversations, and track online presence and message delivery status — all from a single responsive, mobile-first web dashboard powered by Socket.IO for bidirectional real-time communication.
The application implements secure JWT-based authentication, real-time typing indicators, read receipts with delivery status tracking (sent → delivered → read), group conversation management with admin controls, media sharing via Cloudinary CDN, voice message recording, in-chat message search, dark/light theme toggling, and a comprehensive notification system — deployed on Vercel (frontend), Render (backend), and MongoDB Atlas (database).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0" name="Freeform"/>
          <p:cNvSpPr/>
          <p:nvPr/>
        </p:nvSpPr>
        <p:spPr>
          <a:xfrm>
            <a:off x="0" y="0"/>
            <a:ext cx="2926080" cy="1645920"/>
          </a:xfrm>
          <a:custGeom>
            <a:avLst/>
            <a:gdLst/>
            <a:ahLst/>
            <a:cxnLst/>
            <a:rect l="l" t="t" r="r" b="b"/>
            <a:pathLst>
              <a:path w="2926080" h="1645920">
                <a:moveTo>
                  <a:pt x="0" y="0"/>
                </a:moveTo>
                <a:lnTo>
                  <a:pt x="2926080" y="0"/>
                </a:lnTo>
                <a:lnTo>
                  <a:pt x="0" y="1645920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0" y="0"/>
            <a:ext cx="3657600" cy="2011680"/>
          </a:xfrm>
          <a:custGeom>
            <a:avLst/>
            <a:gdLst/>
            <a:ahLst/>
            <a:cxnLst/>
            <a:rect l="l" t="t" r="r" b="b"/>
            <a:pathLst>
              <a:path w="3657600" h="2011680">
                <a:moveTo>
                  <a:pt x="2651760" y="0"/>
                </a:moveTo>
                <a:lnTo>
                  <a:pt x="3657600" y="0"/>
                </a:lnTo>
                <a:lnTo>
                  <a:pt x="0" y="2011680"/>
                </a:lnTo>
                <a:lnTo>
                  <a:pt x="0" y="1463040"/>
                </a:lnTo>
                <a:close/>
              </a:path>
            </a:pathLst>
          </a:custGeom>
          <a:solidFill>
            <a:srgbClr val="1B365D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8961120" y="0"/>
            <a:ext cx="3230575" cy="109728"/>
          </a:xfrm>
          <a:custGeom>
            <a:avLst/>
            <a:gdLst/>
            <a:ahLst/>
            <a:cxnLst/>
            <a:rect l="l" t="t" r="r" b="b"/>
            <a:pathLst>
              <a:path w="3230575" h="109728">
                <a:moveTo>
                  <a:pt x="182880" y="0"/>
                </a:moveTo>
                <a:lnTo>
                  <a:pt x="3230575" y="0"/>
                </a:lnTo>
                <a:lnTo>
                  <a:pt x="3230575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9418320" y="164592"/>
            <a:ext cx="2773375" cy="91440"/>
          </a:xfrm>
          <a:custGeom>
            <a:avLst/>
            <a:gdLst/>
            <a:ahLst/>
            <a:cxnLst/>
            <a:rect l="l" t="t" r="r" b="b"/>
            <a:pathLst>
              <a:path w="2773375" h="91440">
                <a:moveTo>
                  <a:pt x="182880" y="0"/>
                </a:moveTo>
                <a:lnTo>
                  <a:pt x="2773375" y="0"/>
                </a:lnTo>
                <a:lnTo>
                  <a:pt x="2773375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1B365D"/>
          </a:solidFill>
          <a:ln w="0">
            <a:noFill/>
          </a:ln>
        </p:spPr>
      </p:sp>
      <p:sp>
        <p:nvSpPr>
          <p:cNvPr id="2" name="TextBox 1"/>
          <p:cNvSpPr txBox="1"/>
          <p:nvPr/>
        </p:nvSpPr>
        <p:spPr>
          <a:xfrm>
            <a:off x="8686800" y="320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B365D"/>
                </a:solidFill>
                <a:latin typeface="Montserrat"/>
              </a:rPr>
              <a:t>ANURAG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Montserrat"/>
              </a:rPr>
              <a:t>7/7/2026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Montserrat"/>
              </a:rPr>
              <a:t>Department of Information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Montserrat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73152" cy="5029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972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365D"/>
                </a:solidFill>
                <a:latin typeface="Montserrat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300" b="1">
                <a:solidFill>
                  <a:srgbClr val="C00000"/>
                </a:solidFill>
                <a:latin typeface="Montserrat"/>
              </a:rPr>
              <a:t>▸  </a:t>
            </a:r>
            <a:r>
              <a:rPr sz="1300">
                <a:solidFill>
                  <a:srgbClr val="2D2D2D"/>
                </a:solidFill>
                <a:latin typeface="Montserrat"/>
              </a:rPr>
              <a:t>Latency in Message Delivery — Traditional HTTP request-response cycles introduce unacceptable delays. Users expect sub-second delivery with real-time typing indicators and read receipts.</a:t>
            </a:r>
          </a:p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300" b="1">
                <a:solidFill>
                  <a:srgbClr val="C00000"/>
                </a:solidFill>
                <a:latin typeface="Montserrat"/>
              </a:rPr>
              <a:t>▸  </a:t>
            </a:r>
            <a:r>
              <a:rPr sz="1300">
                <a:solidFill>
                  <a:srgbClr val="2D2D2D"/>
                </a:solidFill>
                <a:latin typeface="Montserrat"/>
              </a:rPr>
              <a:t>Lack of Real-Time Presence Tracking — Users need to know whether contacts are currently online, last active time, and whether they are typing a response.</a:t>
            </a:r>
          </a:p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300" b="1">
                <a:solidFill>
                  <a:srgbClr val="C00000"/>
                </a:solidFill>
                <a:latin typeface="Montserrat"/>
              </a:rPr>
              <a:t>▸  </a:t>
            </a:r>
            <a:r>
              <a:rPr sz="1300">
                <a:solidFill>
                  <a:srgbClr val="2D2D2D"/>
                </a:solidFill>
                <a:latin typeface="Montserrat"/>
              </a:rPr>
              <a:t>Fragmented Group Communication — Creating group conversations, managing participants, and ensuring correct unread counts requires careful schema design.</a:t>
            </a:r>
          </a:p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300" b="1">
                <a:solidFill>
                  <a:srgbClr val="C00000"/>
                </a:solidFill>
                <a:latin typeface="Montserrat"/>
              </a:rPr>
              <a:t>▸  </a:t>
            </a:r>
            <a:r>
              <a:rPr sz="1300">
                <a:solidFill>
                  <a:srgbClr val="2D2D2D"/>
                </a:solidFill>
                <a:latin typeface="Montserrat"/>
              </a:rPr>
              <a:t>File and Media Sharing Complexity — Sharing images, documents, and voice messages seamlessly with cloud storage, size limits, and preview rendering.</a:t>
            </a:r>
          </a:p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300" b="1">
                <a:solidFill>
                  <a:srgbClr val="C00000"/>
                </a:solidFill>
                <a:latin typeface="Montserrat"/>
              </a:rPr>
              <a:t>▸  </a:t>
            </a:r>
            <a:r>
              <a:rPr sz="1300">
                <a:solidFill>
                  <a:srgbClr val="2D2D2D"/>
                </a:solidFill>
                <a:latin typeface="Montserrat"/>
              </a:rPr>
              <a:t>Security Concerns — User credentials must be hashed, tokens tamper-proof, APIs rate-limited, and messages encrypted at rest.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0" name="Freeform"/>
          <p:cNvSpPr/>
          <p:nvPr/>
        </p:nvSpPr>
        <p:spPr>
          <a:xfrm>
            <a:off x="0" y="0"/>
            <a:ext cx="2926080" cy="1645920"/>
          </a:xfrm>
          <a:custGeom>
            <a:avLst/>
            <a:gdLst/>
            <a:ahLst/>
            <a:cxnLst/>
            <a:rect l="l" t="t" r="r" b="b"/>
            <a:pathLst>
              <a:path w="2926080" h="1645920">
                <a:moveTo>
                  <a:pt x="0" y="0"/>
                </a:moveTo>
                <a:lnTo>
                  <a:pt x="2926080" y="0"/>
                </a:lnTo>
                <a:lnTo>
                  <a:pt x="0" y="1645920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0" y="0"/>
            <a:ext cx="3657600" cy="2011680"/>
          </a:xfrm>
          <a:custGeom>
            <a:avLst/>
            <a:gdLst/>
            <a:ahLst/>
            <a:cxnLst/>
            <a:rect l="l" t="t" r="r" b="b"/>
            <a:pathLst>
              <a:path w="3657600" h="2011680">
                <a:moveTo>
                  <a:pt x="2651760" y="0"/>
                </a:moveTo>
                <a:lnTo>
                  <a:pt x="3657600" y="0"/>
                </a:lnTo>
                <a:lnTo>
                  <a:pt x="0" y="2011680"/>
                </a:lnTo>
                <a:lnTo>
                  <a:pt x="0" y="1463040"/>
                </a:lnTo>
                <a:close/>
              </a:path>
            </a:pathLst>
          </a:custGeom>
          <a:solidFill>
            <a:srgbClr val="1B365D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8961120" y="0"/>
            <a:ext cx="3230575" cy="109728"/>
          </a:xfrm>
          <a:custGeom>
            <a:avLst/>
            <a:gdLst/>
            <a:ahLst/>
            <a:cxnLst/>
            <a:rect l="l" t="t" r="r" b="b"/>
            <a:pathLst>
              <a:path w="3230575" h="109728">
                <a:moveTo>
                  <a:pt x="182880" y="0"/>
                </a:moveTo>
                <a:lnTo>
                  <a:pt x="3230575" y="0"/>
                </a:lnTo>
                <a:lnTo>
                  <a:pt x="3230575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9418320" y="164592"/>
            <a:ext cx="2773375" cy="91440"/>
          </a:xfrm>
          <a:custGeom>
            <a:avLst/>
            <a:gdLst/>
            <a:ahLst/>
            <a:cxnLst/>
            <a:rect l="l" t="t" r="r" b="b"/>
            <a:pathLst>
              <a:path w="2773375" h="91440">
                <a:moveTo>
                  <a:pt x="182880" y="0"/>
                </a:moveTo>
                <a:lnTo>
                  <a:pt x="2773375" y="0"/>
                </a:lnTo>
                <a:lnTo>
                  <a:pt x="2773375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1B365D"/>
          </a:solidFill>
          <a:ln w="0">
            <a:noFill/>
          </a:ln>
        </p:spPr>
      </p:sp>
      <p:sp>
        <p:nvSpPr>
          <p:cNvPr id="2" name="TextBox 1"/>
          <p:cNvSpPr txBox="1"/>
          <p:nvPr/>
        </p:nvSpPr>
        <p:spPr>
          <a:xfrm>
            <a:off x="8686800" y="320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B365D"/>
                </a:solidFill>
                <a:latin typeface="Montserrat"/>
              </a:rPr>
              <a:t>ANURAG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Montserrat"/>
              </a:rPr>
              <a:t>7/7/2026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Montserrat"/>
              </a:rPr>
              <a:t>Department of Information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Montserrat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73152" cy="5029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972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365D"/>
                </a:solidFill>
                <a:latin typeface="Montserrat"/>
              </a:rPr>
              <a:t>Project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200" b="1">
                <a:solidFill>
                  <a:srgbClr val="C00000"/>
                </a:solidFill>
                <a:latin typeface="Montserrat"/>
              </a:rPr>
              <a:t>▸  </a:t>
            </a:r>
            <a:r>
              <a:rPr sz="1200">
                <a:solidFill>
                  <a:srgbClr val="2D2D2D"/>
                </a:solidFill>
                <a:latin typeface="Montserrat"/>
              </a:rPr>
              <a:t>Secure user registration and login using JWT with Bcrypt password hashing and token verification middleware.</a:t>
            </a:r>
          </a:p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200" b="1">
                <a:solidFill>
                  <a:srgbClr val="C00000"/>
                </a:solidFill>
                <a:latin typeface="Montserrat"/>
              </a:rPr>
              <a:t>▸  </a:t>
            </a:r>
            <a:r>
              <a:rPr sz="1200">
                <a:solidFill>
                  <a:srgbClr val="2D2D2D"/>
                </a:solidFill>
                <a:latin typeface="Montserrat"/>
              </a:rPr>
              <a:t>Real-time bidirectional messaging using Socket.IO with delivery acknowledgments and read receipts (✓, ✓✓, blue ✓✓).</a:t>
            </a:r>
          </a:p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200" b="1">
                <a:solidFill>
                  <a:srgbClr val="C00000"/>
                </a:solidFill>
                <a:latin typeface="Montserrat"/>
              </a:rPr>
              <a:t>▸  </a:t>
            </a:r>
            <a:r>
              <a:rPr sz="1200">
                <a:solidFill>
                  <a:srgbClr val="2D2D2D"/>
                </a:solidFill>
                <a:latin typeface="Montserrat"/>
              </a:rPr>
              <a:t>Real-time presence system tracking online/offline status and "last seen" timestamps via Socket.IO events.</a:t>
            </a:r>
          </a:p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200" b="1">
                <a:solidFill>
                  <a:srgbClr val="C00000"/>
                </a:solidFill>
                <a:latin typeface="Montserrat"/>
              </a:rPr>
              <a:t>▸  </a:t>
            </a:r>
            <a:r>
              <a:rPr sz="1200">
                <a:solidFill>
                  <a:srgbClr val="2D2D2D"/>
                </a:solidFill>
                <a:latin typeface="Montserrat"/>
              </a:rPr>
              <a:t>Typing indicators with animated feedback and automatic timeout-based clearing.</a:t>
            </a:r>
          </a:p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200" b="1">
                <a:solidFill>
                  <a:srgbClr val="C00000"/>
                </a:solidFill>
                <a:latin typeface="Montserrat"/>
              </a:rPr>
              <a:t>▸  </a:t>
            </a:r>
            <a:r>
              <a:rPr sz="1200">
                <a:solidFill>
                  <a:srgbClr val="2D2D2D"/>
                </a:solidFill>
                <a:latin typeface="Montserrat"/>
              </a:rPr>
              <a:t>Complete CRUD for conversations — direct and group chats with multi-step group creation modal.</a:t>
            </a:r>
          </a:p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200" b="1">
                <a:solidFill>
                  <a:srgbClr val="C00000"/>
                </a:solidFill>
                <a:latin typeface="Montserrat"/>
              </a:rPr>
              <a:t>▸  </a:t>
            </a:r>
            <a:r>
              <a:rPr sz="1200">
                <a:solidFill>
                  <a:srgbClr val="2D2D2D"/>
                </a:solidFill>
                <a:latin typeface="Montserrat"/>
              </a:rPr>
              <a:t>Rich message input — text, emoji, image/document attachments (Cloudinary, 10MB), voice recording, clipboard paste.</a:t>
            </a:r>
          </a:p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200" b="1">
                <a:solidFill>
                  <a:srgbClr val="C00000"/>
                </a:solidFill>
                <a:latin typeface="Montserrat"/>
              </a:rPr>
              <a:t>▸  </a:t>
            </a:r>
            <a:r>
              <a:rPr sz="1200">
                <a:solidFill>
                  <a:srgbClr val="2D2D2D"/>
                </a:solidFill>
                <a:latin typeface="Montserrat"/>
              </a:rPr>
              <a:t>Message management — deletion, in-chat search with match navigation, chat clearing, conversation deletion.</a:t>
            </a:r>
          </a:p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200" b="1">
                <a:solidFill>
                  <a:srgbClr val="C00000"/>
                </a:solidFill>
                <a:latin typeface="Montserrat"/>
              </a:rPr>
              <a:t>▸  </a:t>
            </a:r>
            <a:r>
              <a:rPr sz="1200">
                <a:solidFill>
                  <a:srgbClr val="2D2D2D"/>
                </a:solidFill>
                <a:latin typeface="Montserrat"/>
              </a:rPr>
              <a:t>Notifications panel, profile management, dark/light theme toggle, and cloud deployment (Vercel + Render + Atlas).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0" name="Freeform"/>
          <p:cNvSpPr/>
          <p:nvPr/>
        </p:nvSpPr>
        <p:spPr>
          <a:xfrm>
            <a:off x="0" y="0"/>
            <a:ext cx="2926080" cy="1645920"/>
          </a:xfrm>
          <a:custGeom>
            <a:avLst/>
            <a:gdLst/>
            <a:ahLst/>
            <a:cxnLst/>
            <a:rect l="l" t="t" r="r" b="b"/>
            <a:pathLst>
              <a:path w="2926080" h="1645920">
                <a:moveTo>
                  <a:pt x="0" y="0"/>
                </a:moveTo>
                <a:lnTo>
                  <a:pt x="2926080" y="0"/>
                </a:lnTo>
                <a:lnTo>
                  <a:pt x="0" y="1645920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0" y="0"/>
            <a:ext cx="3657600" cy="2011680"/>
          </a:xfrm>
          <a:custGeom>
            <a:avLst/>
            <a:gdLst/>
            <a:ahLst/>
            <a:cxnLst/>
            <a:rect l="l" t="t" r="r" b="b"/>
            <a:pathLst>
              <a:path w="3657600" h="2011680">
                <a:moveTo>
                  <a:pt x="2651760" y="0"/>
                </a:moveTo>
                <a:lnTo>
                  <a:pt x="3657600" y="0"/>
                </a:lnTo>
                <a:lnTo>
                  <a:pt x="0" y="2011680"/>
                </a:lnTo>
                <a:lnTo>
                  <a:pt x="0" y="1463040"/>
                </a:lnTo>
                <a:close/>
              </a:path>
            </a:pathLst>
          </a:custGeom>
          <a:solidFill>
            <a:srgbClr val="1B365D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8961120" y="0"/>
            <a:ext cx="3230575" cy="109728"/>
          </a:xfrm>
          <a:custGeom>
            <a:avLst/>
            <a:gdLst/>
            <a:ahLst/>
            <a:cxnLst/>
            <a:rect l="l" t="t" r="r" b="b"/>
            <a:pathLst>
              <a:path w="3230575" h="109728">
                <a:moveTo>
                  <a:pt x="182880" y="0"/>
                </a:moveTo>
                <a:lnTo>
                  <a:pt x="3230575" y="0"/>
                </a:lnTo>
                <a:lnTo>
                  <a:pt x="3230575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9418320" y="164592"/>
            <a:ext cx="2773375" cy="91440"/>
          </a:xfrm>
          <a:custGeom>
            <a:avLst/>
            <a:gdLst/>
            <a:ahLst/>
            <a:cxnLst/>
            <a:rect l="l" t="t" r="r" b="b"/>
            <a:pathLst>
              <a:path w="2773375" h="91440">
                <a:moveTo>
                  <a:pt x="182880" y="0"/>
                </a:moveTo>
                <a:lnTo>
                  <a:pt x="2773375" y="0"/>
                </a:lnTo>
                <a:lnTo>
                  <a:pt x="2773375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1B365D"/>
          </a:solidFill>
          <a:ln w="0">
            <a:noFill/>
          </a:ln>
        </p:spPr>
      </p:sp>
      <p:sp>
        <p:nvSpPr>
          <p:cNvPr id="2" name="TextBox 1"/>
          <p:cNvSpPr txBox="1"/>
          <p:nvPr/>
        </p:nvSpPr>
        <p:spPr>
          <a:xfrm>
            <a:off x="8686800" y="320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B365D"/>
                </a:solidFill>
                <a:latin typeface="Montserrat"/>
              </a:rPr>
              <a:t>ANURAG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Montserrat"/>
              </a:rPr>
              <a:t>7/7/2026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Montserrat"/>
              </a:rPr>
              <a:t>Department of Information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Montserrat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73152" cy="5029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972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365D"/>
                </a:solidFill>
                <a:latin typeface="Montserrat"/>
              </a:rPr>
              <a:t>Architecture &amp; Tech Stack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2011680"/>
          <a:ext cx="10058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772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Layer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Components &amp; Technologies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Montserrat"/>
                        </a:rPr>
                        <a:t>Presentation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Montserrat"/>
                        </a:rPr>
                        <a:t>React 19 + Vite 8, Tailwind CSS v3, Zustand, React Router v7, Axios, CryptoJS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Montserrat"/>
                        </a:rPr>
                        <a:t>Application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Montserrat"/>
                        </a:rPr>
                        <a:t>Node.js + Express.js, Socket.IO v4, JWT Auth, CORS, Helmet.js, Rate Limiting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Montserrat"/>
                        </a:rPr>
                        <a:t>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Montserrat"/>
                        </a:rPr>
                        <a:t>MongoDB Atlas (Cloud NoSQL), Mongoose ODM (User, Conversation, Message schemas)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Montserrat"/>
                        </a:rPr>
                        <a:t>External Services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Montserrat"/>
                        </a:rPr>
                        <a:t>Cloudinary CDN for image, file, and voice message uploads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Montserrat"/>
                        </a:rPr>
                        <a:t>Deployment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Montserrat"/>
                        </a:rPr>
                        <a:t>Frontend → Vercel  |  Backend → Render  |  Database → MongoDB Atlas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0" name="Freeform"/>
          <p:cNvSpPr/>
          <p:nvPr/>
        </p:nvSpPr>
        <p:spPr>
          <a:xfrm>
            <a:off x="0" y="0"/>
            <a:ext cx="2926080" cy="1645920"/>
          </a:xfrm>
          <a:custGeom>
            <a:avLst/>
            <a:gdLst/>
            <a:ahLst/>
            <a:cxnLst/>
            <a:rect l="l" t="t" r="r" b="b"/>
            <a:pathLst>
              <a:path w="2926080" h="1645920">
                <a:moveTo>
                  <a:pt x="0" y="0"/>
                </a:moveTo>
                <a:lnTo>
                  <a:pt x="2926080" y="0"/>
                </a:lnTo>
                <a:lnTo>
                  <a:pt x="0" y="1645920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0" y="0"/>
            <a:ext cx="3657600" cy="2011680"/>
          </a:xfrm>
          <a:custGeom>
            <a:avLst/>
            <a:gdLst/>
            <a:ahLst/>
            <a:cxnLst/>
            <a:rect l="l" t="t" r="r" b="b"/>
            <a:pathLst>
              <a:path w="3657600" h="2011680">
                <a:moveTo>
                  <a:pt x="2651760" y="0"/>
                </a:moveTo>
                <a:lnTo>
                  <a:pt x="3657600" y="0"/>
                </a:lnTo>
                <a:lnTo>
                  <a:pt x="0" y="2011680"/>
                </a:lnTo>
                <a:lnTo>
                  <a:pt x="0" y="1463040"/>
                </a:lnTo>
                <a:close/>
              </a:path>
            </a:pathLst>
          </a:custGeom>
          <a:solidFill>
            <a:srgbClr val="1B365D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8961120" y="0"/>
            <a:ext cx="3230575" cy="109728"/>
          </a:xfrm>
          <a:custGeom>
            <a:avLst/>
            <a:gdLst/>
            <a:ahLst/>
            <a:cxnLst/>
            <a:rect l="l" t="t" r="r" b="b"/>
            <a:pathLst>
              <a:path w="3230575" h="109728">
                <a:moveTo>
                  <a:pt x="182880" y="0"/>
                </a:moveTo>
                <a:lnTo>
                  <a:pt x="3230575" y="0"/>
                </a:lnTo>
                <a:lnTo>
                  <a:pt x="3230575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9418320" y="164592"/>
            <a:ext cx="2773375" cy="91440"/>
          </a:xfrm>
          <a:custGeom>
            <a:avLst/>
            <a:gdLst/>
            <a:ahLst/>
            <a:cxnLst/>
            <a:rect l="l" t="t" r="r" b="b"/>
            <a:pathLst>
              <a:path w="2773375" h="91440">
                <a:moveTo>
                  <a:pt x="182880" y="0"/>
                </a:moveTo>
                <a:lnTo>
                  <a:pt x="2773375" y="0"/>
                </a:lnTo>
                <a:lnTo>
                  <a:pt x="2773375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1B365D"/>
          </a:solidFill>
          <a:ln w="0">
            <a:noFill/>
          </a:ln>
        </p:spPr>
      </p:sp>
      <p:sp>
        <p:nvSpPr>
          <p:cNvPr id="2" name="TextBox 1"/>
          <p:cNvSpPr txBox="1"/>
          <p:nvPr/>
        </p:nvSpPr>
        <p:spPr>
          <a:xfrm>
            <a:off x="8686800" y="320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B365D"/>
                </a:solidFill>
                <a:latin typeface="Montserrat"/>
              </a:rPr>
              <a:t>ANURAG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Montserrat"/>
              </a:rPr>
              <a:t>7/7/2026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Montserrat"/>
              </a:rPr>
              <a:t>Department of Information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Montserrat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73152" cy="5029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972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365D"/>
                </a:solidFill>
                <a:latin typeface="Montserrat"/>
              </a:rPr>
              <a:t>Literature Survey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92024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286000"/>
                <a:gridCol w="2743200"/>
                <a:gridCol w="502920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#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Author(s) &amp; Year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Focus Area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Key Finding / Limitation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Patel &amp; Desai (2023)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MERN + Socket.IO Chat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Real-time messaging; lacks groups &amp; media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Zhang et al. (2022)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WebSocket Performance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10x faster than HTTP polling; no typing/presence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Kumar &amp; Singh (2024)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JWT + bcrypt Security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Strong auth; no real-time features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Rahman (2023)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WebRTC Video Calling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Standalone; not integrated into messaging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Sharma &amp; Gupta (2025)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Group Messaging (NoSQL)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Efficient broadcast; lacks admin controls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Li &amp; Wang (2022)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Cloud File Sharing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Seamless uploads; no real-time integration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Reddy &amp; Rao (2024)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Zustand vs Redux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Simpler API; no messaging patterns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Fernandez (2023)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Tailwind CSS UI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Rapid dev; no dark mode / theme switching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Das &amp; Mukherjee (2024)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Read Receipts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Accurate tracking; single-user demo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10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Nakamura (2025)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PWA Chat + Offline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Installable as app; lacks advanced types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0" name="Freeform"/>
          <p:cNvSpPr/>
          <p:nvPr/>
        </p:nvSpPr>
        <p:spPr>
          <a:xfrm>
            <a:off x="0" y="0"/>
            <a:ext cx="2926080" cy="1645920"/>
          </a:xfrm>
          <a:custGeom>
            <a:avLst/>
            <a:gdLst/>
            <a:ahLst/>
            <a:cxnLst/>
            <a:rect l="l" t="t" r="r" b="b"/>
            <a:pathLst>
              <a:path w="2926080" h="1645920">
                <a:moveTo>
                  <a:pt x="0" y="0"/>
                </a:moveTo>
                <a:lnTo>
                  <a:pt x="2926080" y="0"/>
                </a:lnTo>
                <a:lnTo>
                  <a:pt x="0" y="1645920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0" y="0"/>
            <a:ext cx="3657600" cy="2011680"/>
          </a:xfrm>
          <a:custGeom>
            <a:avLst/>
            <a:gdLst/>
            <a:ahLst/>
            <a:cxnLst/>
            <a:rect l="l" t="t" r="r" b="b"/>
            <a:pathLst>
              <a:path w="3657600" h="2011680">
                <a:moveTo>
                  <a:pt x="2651760" y="0"/>
                </a:moveTo>
                <a:lnTo>
                  <a:pt x="3657600" y="0"/>
                </a:lnTo>
                <a:lnTo>
                  <a:pt x="0" y="2011680"/>
                </a:lnTo>
                <a:lnTo>
                  <a:pt x="0" y="1463040"/>
                </a:lnTo>
                <a:close/>
              </a:path>
            </a:pathLst>
          </a:custGeom>
          <a:solidFill>
            <a:srgbClr val="1B365D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8961120" y="0"/>
            <a:ext cx="3230575" cy="109728"/>
          </a:xfrm>
          <a:custGeom>
            <a:avLst/>
            <a:gdLst/>
            <a:ahLst/>
            <a:cxnLst/>
            <a:rect l="l" t="t" r="r" b="b"/>
            <a:pathLst>
              <a:path w="3230575" h="109728">
                <a:moveTo>
                  <a:pt x="182880" y="0"/>
                </a:moveTo>
                <a:lnTo>
                  <a:pt x="3230575" y="0"/>
                </a:lnTo>
                <a:lnTo>
                  <a:pt x="3230575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9418320" y="164592"/>
            <a:ext cx="2773375" cy="91440"/>
          </a:xfrm>
          <a:custGeom>
            <a:avLst/>
            <a:gdLst/>
            <a:ahLst/>
            <a:cxnLst/>
            <a:rect l="l" t="t" r="r" b="b"/>
            <a:pathLst>
              <a:path w="2773375" h="91440">
                <a:moveTo>
                  <a:pt x="182880" y="0"/>
                </a:moveTo>
                <a:lnTo>
                  <a:pt x="2773375" y="0"/>
                </a:lnTo>
                <a:lnTo>
                  <a:pt x="2773375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1B365D"/>
          </a:solidFill>
          <a:ln w="0">
            <a:noFill/>
          </a:ln>
        </p:spPr>
      </p:sp>
      <p:sp>
        <p:nvSpPr>
          <p:cNvPr id="2" name="TextBox 1"/>
          <p:cNvSpPr txBox="1"/>
          <p:nvPr/>
        </p:nvSpPr>
        <p:spPr>
          <a:xfrm>
            <a:off x="8686800" y="320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B365D"/>
                </a:solidFill>
                <a:latin typeface="Montserrat"/>
              </a:rPr>
              <a:t>ANURAG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Montserrat"/>
              </a:rPr>
              <a:t>7/7/2026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Montserrat"/>
              </a:rPr>
              <a:t>Department of Information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Montserrat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73152" cy="5029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972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365D"/>
                </a:solidFill>
                <a:latin typeface="Montserrat"/>
              </a:rPr>
              <a:t>Key Modules &amp; Features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920240"/>
          <a:ext cx="103327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04672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Module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Authentication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JWT + Bcrypt login/register; token verification middleware; session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Chat Dashboard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Modern sidebar + chat window; responsive mobile-first layout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Real-Time Messaging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Socket.IO events for send/receive/delivered/read; optimistic UI updates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Group Conversations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Multi-step group creation; admin controls; add/remove members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Media Sharing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Cloudinary uploads (images, docs, voice); 10MB limit; clipboard paste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Presence &amp; Typing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Online/offline status; last seen; animated typing indicators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Notifications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Slide-in panel with message previews, timestamps, read/unread 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Profile Management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Edit name, about, avatar; Cloudinary upload; user blocking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Theme System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Dark/light toggle with Zustand persistence; CSS custom properties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Message Search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In-chat search with match counter, navigation, and auto-scroll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0" name="Freeform"/>
          <p:cNvSpPr/>
          <p:nvPr/>
        </p:nvSpPr>
        <p:spPr>
          <a:xfrm>
            <a:off x="0" y="0"/>
            <a:ext cx="2926080" cy="1645920"/>
          </a:xfrm>
          <a:custGeom>
            <a:avLst/>
            <a:gdLst/>
            <a:ahLst/>
            <a:cxnLst/>
            <a:rect l="l" t="t" r="r" b="b"/>
            <a:pathLst>
              <a:path w="2926080" h="1645920">
                <a:moveTo>
                  <a:pt x="0" y="0"/>
                </a:moveTo>
                <a:lnTo>
                  <a:pt x="2926080" y="0"/>
                </a:lnTo>
                <a:lnTo>
                  <a:pt x="0" y="1645920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0" y="0"/>
            <a:ext cx="3657600" cy="2011680"/>
          </a:xfrm>
          <a:custGeom>
            <a:avLst/>
            <a:gdLst/>
            <a:ahLst/>
            <a:cxnLst/>
            <a:rect l="l" t="t" r="r" b="b"/>
            <a:pathLst>
              <a:path w="3657600" h="2011680">
                <a:moveTo>
                  <a:pt x="2651760" y="0"/>
                </a:moveTo>
                <a:lnTo>
                  <a:pt x="3657600" y="0"/>
                </a:lnTo>
                <a:lnTo>
                  <a:pt x="0" y="2011680"/>
                </a:lnTo>
                <a:lnTo>
                  <a:pt x="0" y="1463040"/>
                </a:lnTo>
                <a:close/>
              </a:path>
            </a:pathLst>
          </a:custGeom>
          <a:solidFill>
            <a:srgbClr val="1B365D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8961120" y="0"/>
            <a:ext cx="3230575" cy="109728"/>
          </a:xfrm>
          <a:custGeom>
            <a:avLst/>
            <a:gdLst/>
            <a:ahLst/>
            <a:cxnLst/>
            <a:rect l="l" t="t" r="r" b="b"/>
            <a:pathLst>
              <a:path w="3230575" h="109728">
                <a:moveTo>
                  <a:pt x="182880" y="0"/>
                </a:moveTo>
                <a:lnTo>
                  <a:pt x="3230575" y="0"/>
                </a:lnTo>
                <a:lnTo>
                  <a:pt x="3230575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9418320" y="164592"/>
            <a:ext cx="2773375" cy="91440"/>
          </a:xfrm>
          <a:custGeom>
            <a:avLst/>
            <a:gdLst/>
            <a:ahLst/>
            <a:cxnLst/>
            <a:rect l="l" t="t" r="r" b="b"/>
            <a:pathLst>
              <a:path w="2773375" h="91440">
                <a:moveTo>
                  <a:pt x="182880" y="0"/>
                </a:moveTo>
                <a:lnTo>
                  <a:pt x="2773375" y="0"/>
                </a:lnTo>
                <a:lnTo>
                  <a:pt x="2773375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1B365D"/>
          </a:solidFill>
          <a:ln w="0">
            <a:noFill/>
          </a:ln>
        </p:spPr>
      </p:sp>
      <p:sp>
        <p:nvSpPr>
          <p:cNvPr id="2" name="TextBox 1"/>
          <p:cNvSpPr txBox="1"/>
          <p:nvPr/>
        </p:nvSpPr>
        <p:spPr>
          <a:xfrm>
            <a:off x="8686800" y="320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B365D"/>
                </a:solidFill>
                <a:latin typeface="Montserrat"/>
              </a:rPr>
              <a:t>ANURAG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Montserrat"/>
              </a:rPr>
              <a:t>7/7/2026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Montserrat"/>
              </a:rPr>
              <a:t>Department of Information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Montserrat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73152" cy="5029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972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365D"/>
                </a:solidFill>
                <a:latin typeface="Montserrat"/>
              </a:rPr>
              <a:t>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200" b="1">
                <a:solidFill>
                  <a:srgbClr val="C00000"/>
                </a:solidFill>
                <a:latin typeface="Montserrat"/>
              </a:rPr>
              <a:t>▸  </a:t>
            </a:r>
            <a:r>
              <a:rPr sz="1200">
                <a:solidFill>
                  <a:srgbClr val="2D2D2D"/>
                </a:solidFill>
                <a:latin typeface="Montserrat"/>
              </a:rPr>
              <a:t>Requirement Analysis — Identified functional requirements (auth, messaging, groups, media, notifications) and non-functional requirements (latency, security, scalability).</a:t>
            </a:r>
          </a:p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200" b="1">
                <a:solidFill>
                  <a:srgbClr val="C00000"/>
                </a:solidFill>
                <a:latin typeface="Montserrat"/>
              </a:rPr>
              <a:t>▸  </a:t>
            </a:r>
            <a:r>
              <a:rPr sz="1200">
                <a:solidFill>
                  <a:srgbClr val="2D2D2D"/>
                </a:solidFill>
                <a:latin typeface="Montserrat"/>
              </a:rPr>
              <a:t>System Design — Layered architecture with 4 REST API route groups (/auth, /users, /conversations, /messages) and Socket.IO event contracts.</a:t>
            </a:r>
          </a:p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200" b="1">
                <a:solidFill>
                  <a:srgbClr val="C00000"/>
                </a:solidFill>
                <a:latin typeface="Montserrat"/>
              </a:rPr>
              <a:t>▸  </a:t>
            </a:r>
            <a:r>
              <a:rPr sz="1200">
                <a:solidFill>
                  <a:srgbClr val="2D2D2D"/>
                </a:solidFill>
                <a:latin typeface="Montserrat"/>
              </a:rPr>
              <a:t>Database Design — Three Mongoose collections: User, Conversation, Message with compound indexes for efficient queries.</a:t>
            </a:r>
          </a:p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200" b="1">
                <a:solidFill>
                  <a:srgbClr val="C00000"/>
                </a:solidFill>
                <a:latin typeface="Montserrat"/>
              </a:rPr>
              <a:t>▸  </a:t>
            </a:r>
            <a:r>
              <a:rPr sz="1200">
                <a:solidFill>
                  <a:srgbClr val="2D2D2D"/>
                </a:solidFill>
                <a:latin typeface="Montserrat"/>
              </a:rPr>
              <a:t>Backend Development — Express module-by-module: Auth routes, User routes, Conversation routes, Message routes, Socket event handlers, Middleware.</a:t>
            </a:r>
          </a:p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200" b="1">
                <a:solidFill>
                  <a:srgbClr val="C00000"/>
                </a:solidFill>
                <a:latin typeface="Montserrat"/>
              </a:rPr>
              <a:t>▸  </a:t>
            </a:r>
            <a:r>
              <a:rPr sz="1200">
                <a:solidFill>
                  <a:srgbClr val="2D2D2D"/>
                </a:solidFill>
                <a:latin typeface="Montserrat"/>
              </a:rPr>
              <a:t>Frontend Development — React component groups: Auth, Chat, Group, Profile, Common components + Zustand stores + Custom hooks.</a:t>
            </a:r>
          </a:p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200" b="1">
                <a:solidFill>
                  <a:srgbClr val="C00000"/>
                </a:solidFill>
                <a:latin typeface="Montserrat"/>
              </a:rPr>
              <a:t>▸  </a:t>
            </a:r>
            <a:r>
              <a:rPr sz="1200">
                <a:solidFill>
                  <a:srgbClr val="2D2D2D"/>
                </a:solidFill>
                <a:latin typeface="Montserrat"/>
              </a:rPr>
              <a:t>Integration — Vite dev-server proxy (local) + Vercel rewrite rules (production); Socket.IO with JWT handshake.</a:t>
            </a:r>
          </a:p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200" b="1">
                <a:solidFill>
                  <a:srgbClr val="C00000"/>
                </a:solidFill>
                <a:latin typeface="Montserrat"/>
              </a:rPr>
              <a:t>▸  </a:t>
            </a:r>
            <a:r>
              <a:rPr sz="1200">
                <a:solidFill>
                  <a:srgbClr val="2D2D2D"/>
                </a:solidFill>
                <a:latin typeface="Montserrat"/>
              </a:rPr>
              <a:t>Testing — Postman API testing + Manual UI testing of all interactions across mobile/tablet/desktop viewports.</a:t>
            </a:r>
          </a:p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200" b="1">
                <a:solidFill>
                  <a:srgbClr val="C00000"/>
                </a:solidFill>
                <a:latin typeface="Montserrat"/>
              </a:rPr>
              <a:t>▸  </a:t>
            </a:r>
            <a:r>
              <a:rPr sz="1200">
                <a:solidFill>
                  <a:srgbClr val="2D2D2D"/>
                </a:solidFill>
                <a:latin typeface="Montserrat"/>
              </a:rPr>
              <a:t>Deployment — Backend on Render, Frontend on Vercel, Database on MongoDB Atlas with environment variable configuration.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0" name="Freeform"/>
          <p:cNvSpPr/>
          <p:nvPr/>
        </p:nvSpPr>
        <p:spPr>
          <a:xfrm>
            <a:off x="0" y="0"/>
            <a:ext cx="2926080" cy="1645920"/>
          </a:xfrm>
          <a:custGeom>
            <a:avLst/>
            <a:gdLst/>
            <a:ahLst/>
            <a:cxnLst/>
            <a:rect l="l" t="t" r="r" b="b"/>
            <a:pathLst>
              <a:path w="2926080" h="1645920">
                <a:moveTo>
                  <a:pt x="0" y="0"/>
                </a:moveTo>
                <a:lnTo>
                  <a:pt x="2926080" y="0"/>
                </a:lnTo>
                <a:lnTo>
                  <a:pt x="0" y="1645920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0" y="0"/>
            <a:ext cx="3657600" cy="2011680"/>
          </a:xfrm>
          <a:custGeom>
            <a:avLst/>
            <a:gdLst/>
            <a:ahLst/>
            <a:cxnLst/>
            <a:rect l="l" t="t" r="r" b="b"/>
            <a:pathLst>
              <a:path w="3657600" h="2011680">
                <a:moveTo>
                  <a:pt x="2651760" y="0"/>
                </a:moveTo>
                <a:lnTo>
                  <a:pt x="3657600" y="0"/>
                </a:lnTo>
                <a:lnTo>
                  <a:pt x="0" y="2011680"/>
                </a:lnTo>
                <a:lnTo>
                  <a:pt x="0" y="1463040"/>
                </a:lnTo>
                <a:close/>
              </a:path>
            </a:pathLst>
          </a:custGeom>
          <a:solidFill>
            <a:srgbClr val="1B365D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8961120" y="0"/>
            <a:ext cx="3230575" cy="109728"/>
          </a:xfrm>
          <a:custGeom>
            <a:avLst/>
            <a:gdLst/>
            <a:ahLst/>
            <a:cxnLst/>
            <a:rect l="l" t="t" r="r" b="b"/>
            <a:pathLst>
              <a:path w="3230575" h="109728">
                <a:moveTo>
                  <a:pt x="182880" y="0"/>
                </a:moveTo>
                <a:lnTo>
                  <a:pt x="3230575" y="0"/>
                </a:lnTo>
                <a:lnTo>
                  <a:pt x="3230575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9418320" y="164592"/>
            <a:ext cx="2773375" cy="91440"/>
          </a:xfrm>
          <a:custGeom>
            <a:avLst/>
            <a:gdLst/>
            <a:ahLst/>
            <a:cxnLst/>
            <a:rect l="l" t="t" r="r" b="b"/>
            <a:pathLst>
              <a:path w="2773375" h="91440">
                <a:moveTo>
                  <a:pt x="182880" y="0"/>
                </a:moveTo>
                <a:lnTo>
                  <a:pt x="2773375" y="0"/>
                </a:lnTo>
                <a:lnTo>
                  <a:pt x="2773375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1B365D"/>
          </a:solidFill>
          <a:ln w="0">
            <a:noFill/>
          </a:ln>
        </p:spPr>
      </p:sp>
      <p:sp>
        <p:nvSpPr>
          <p:cNvPr id="2" name="TextBox 1"/>
          <p:cNvSpPr txBox="1"/>
          <p:nvPr/>
        </p:nvSpPr>
        <p:spPr>
          <a:xfrm>
            <a:off x="8686800" y="320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B365D"/>
                </a:solidFill>
                <a:latin typeface="Montserrat"/>
              </a:rPr>
              <a:t>ANURAG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Montserrat"/>
              </a:rPr>
              <a:t>7/7/2026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Montserrat"/>
              </a:rPr>
              <a:t>Department of Information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Montserrat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73152" cy="5029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972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365D"/>
                </a:solidFill>
                <a:latin typeface="Montserrat"/>
              </a:rPr>
              <a:t>Database Schema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2011680"/>
          <a:ext cx="103327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  <a:gridCol w="438912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Collection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Key Fields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Purpose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User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fullName, email, password, avatar,
about, lastSeen, isOnline, blockedUsers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Account credentials, profile data,
online status, block list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Conversation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type, participants, groupInfo,
lastMessage, unreadCount, wallpaper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Links participants, stores lastMessage
(subset pattern), per-user unread counts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Message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conversationId, sender, content, type,
status, readBy, reactions, isDeleted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Message logs with delivery tracking,
read receipts, reactions, soft deletion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</a:pPr>
            <a:r>
              <a:rPr sz="1400" b="1">
                <a:solidFill>
                  <a:srgbClr val="2D2D2D"/>
                </a:solidFill>
                <a:latin typeface="Montserrat"/>
              </a:rPr>
              <a:t>Socket.IO Event Contract: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200" b="1">
                <a:solidFill>
                  <a:srgbClr val="C00000"/>
                </a:solidFill>
                <a:latin typeface="Montserrat"/>
              </a:rPr>
              <a:t>▸  </a:t>
            </a:r>
            <a:r>
              <a:rPr sz="1200">
                <a:solidFill>
                  <a:srgbClr val="2D2D2D"/>
                </a:solidFill>
                <a:latin typeface="Montserrat"/>
              </a:rPr>
              <a:t>message:send / message:new / message:sent / message:delivered / message:read / message:delete</a:t>
            </a:r>
          </a:p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200" b="1">
                <a:solidFill>
                  <a:srgbClr val="C00000"/>
                </a:solidFill>
                <a:latin typeface="Montserrat"/>
              </a:rPr>
              <a:t>▸  </a:t>
            </a:r>
            <a:r>
              <a:rPr sz="1200">
                <a:solidFill>
                  <a:srgbClr val="2D2D2D"/>
                </a:solidFill>
                <a:latin typeface="Montserrat"/>
              </a:rPr>
              <a:t>typing:start / typing:stop  •  user:online / user:offline  •  conversation:new / group:updated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0" name="Freeform"/>
          <p:cNvSpPr/>
          <p:nvPr/>
        </p:nvSpPr>
        <p:spPr>
          <a:xfrm>
            <a:off x="0" y="0"/>
            <a:ext cx="2926080" cy="1645920"/>
          </a:xfrm>
          <a:custGeom>
            <a:avLst/>
            <a:gdLst/>
            <a:ahLst/>
            <a:cxnLst/>
            <a:rect l="l" t="t" r="r" b="b"/>
            <a:pathLst>
              <a:path w="2926080" h="1645920">
                <a:moveTo>
                  <a:pt x="0" y="0"/>
                </a:moveTo>
                <a:lnTo>
                  <a:pt x="2926080" y="0"/>
                </a:lnTo>
                <a:lnTo>
                  <a:pt x="0" y="1645920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0" y="0"/>
            <a:ext cx="3657600" cy="2011680"/>
          </a:xfrm>
          <a:custGeom>
            <a:avLst/>
            <a:gdLst/>
            <a:ahLst/>
            <a:cxnLst/>
            <a:rect l="l" t="t" r="r" b="b"/>
            <a:pathLst>
              <a:path w="3657600" h="2011680">
                <a:moveTo>
                  <a:pt x="2651760" y="0"/>
                </a:moveTo>
                <a:lnTo>
                  <a:pt x="3657600" y="0"/>
                </a:lnTo>
                <a:lnTo>
                  <a:pt x="0" y="2011680"/>
                </a:lnTo>
                <a:lnTo>
                  <a:pt x="0" y="1463040"/>
                </a:lnTo>
                <a:close/>
              </a:path>
            </a:pathLst>
          </a:custGeom>
          <a:solidFill>
            <a:srgbClr val="1B365D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8961120" y="0"/>
            <a:ext cx="3230575" cy="109728"/>
          </a:xfrm>
          <a:custGeom>
            <a:avLst/>
            <a:gdLst/>
            <a:ahLst/>
            <a:cxnLst/>
            <a:rect l="l" t="t" r="r" b="b"/>
            <a:pathLst>
              <a:path w="3230575" h="109728">
                <a:moveTo>
                  <a:pt x="182880" y="0"/>
                </a:moveTo>
                <a:lnTo>
                  <a:pt x="3230575" y="0"/>
                </a:lnTo>
                <a:lnTo>
                  <a:pt x="3230575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9418320" y="164592"/>
            <a:ext cx="2773375" cy="91440"/>
          </a:xfrm>
          <a:custGeom>
            <a:avLst/>
            <a:gdLst/>
            <a:ahLst/>
            <a:cxnLst/>
            <a:rect l="l" t="t" r="r" b="b"/>
            <a:pathLst>
              <a:path w="2773375" h="91440">
                <a:moveTo>
                  <a:pt x="182880" y="0"/>
                </a:moveTo>
                <a:lnTo>
                  <a:pt x="2773375" y="0"/>
                </a:lnTo>
                <a:lnTo>
                  <a:pt x="2773375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1B365D"/>
          </a:solidFill>
          <a:ln w="0">
            <a:noFill/>
          </a:ln>
        </p:spPr>
      </p:sp>
      <p:sp>
        <p:nvSpPr>
          <p:cNvPr id="2" name="TextBox 1"/>
          <p:cNvSpPr txBox="1"/>
          <p:nvPr/>
        </p:nvSpPr>
        <p:spPr>
          <a:xfrm>
            <a:off x="8686800" y="320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B365D"/>
                </a:solidFill>
                <a:latin typeface="Montserrat"/>
              </a:rPr>
              <a:t>ANURAG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Montserrat"/>
              </a:rPr>
              <a:t>7/7/2026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Montserrat"/>
              </a:rPr>
              <a:t>Department of Information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Montserrat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73152" cy="5029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972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365D"/>
                </a:solidFill>
                <a:latin typeface="Montserrat"/>
              </a:rPr>
              <a:t>Software &amp; Hardware Requirements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92024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502920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Component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Specification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Purpose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Runtime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Node.js 18+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Express backend + Vite build tooling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Backend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Express.js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REST API, middleware, DB queries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Frontend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React 19 + Vite 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UI library + fast HMR dev server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Real-Time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Socket.IO v4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WebSocket communication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Database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MongoDB Atlas + Mongoose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Cloud NoSQL with schema validation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Auth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jsonwebtoken + bcryptjs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JWT + password hashing (12 rounds)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Media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Cloudinary CDN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Image, file, voice message uploads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State Mgmt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Zustand v5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Lightweight React state management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Styling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Tailwind CSS v3, React Icons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Utility-first CSS + icon library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Security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Helmet.js, rate-limit, CryptoJS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Montserrat"/>
                        </a:rPr>
                        <a:t>Headers, rate limiting, AES encryption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  <a:latin typeface="Montserrat"/>
              </a:rPr>
              <a:t>Hardware: Intel i3+, 4GB RAM (8GB recommended), 2GB storage, stable internet, microphone (for voice recording)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0" name="Freeform"/>
          <p:cNvSpPr/>
          <p:nvPr/>
        </p:nvSpPr>
        <p:spPr>
          <a:xfrm>
            <a:off x="0" y="0"/>
            <a:ext cx="2926080" cy="1645920"/>
          </a:xfrm>
          <a:custGeom>
            <a:avLst/>
            <a:gdLst/>
            <a:ahLst/>
            <a:cxnLst/>
            <a:rect l="l" t="t" r="r" b="b"/>
            <a:pathLst>
              <a:path w="2926080" h="1645920">
                <a:moveTo>
                  <a:pt x="0" y="0"/>
                </a:moveTo>
                <a:lnTo>
                  <a:pt x="2926080" y="0"/>
                </a:lnTo>
                <a:lnTo>
                  <a:pt x="0" y="1645920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0" y="0"/>
            <a:ext cx="3657600" cy="2011680"/>
          </a:xfrm>
          <a:custGeom>
            <a:avLst/>
            <a:gdLst/>
            <a:ahLst/>
            <a:cxnLst/>
            <a:rect l="l" t="t" r="r" b="b"/>
            <a:pathLst>
              <a:path w="3657600" h="2011680">
                <a:moveTo>
                  <a:pt x="2651760" y="0"/>
                </a:moveTo>
                <a:lnTo>
                  <a:pt x="3657600" y="0"/>
                </a:lnTo>
                <a:lnTo>
                  <a:pt x="0" y="2011680"/>
                </a:lnTo>
                <a:lnTo>
                  <a:pt x="0" y="1463040"/>
                </a:lnTo>
                <a:close/>
              </a:path>
            </a:pathLst>
          </a:custGeom>
          <a:solidFill>
            <a:srgbClr val="1B365D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8961120" y="0"/>
            <a:ext cx="3230575" cy="109728"/>
          </a:xfrm>
          <a:custGeom>
            <a:avLst/>
            <a:gdLst/>
            <a:ahLst/>
            <a:cxnLst/>
            <a:rect l="l" t="t" r="r" b="b"/>
            <a:pathLst>
              <a:path w="3230575" h="109728">
                <a:moveTo>
                  <a:pt x="182880" y="0"/>
                </a:moveTo>
                <a:lnTo>
                  <a:pt x="3230575" y="0"/>
                </a:lnTo>
                <a:lnTo>
                  <a:pt x="3230575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0" name="Freeform"/>
          <p:cNvSpPr/>
          <p:nvPr/>
        </p:nvSpPr>
        <p:spPr>
          <a:xfrm>
            <a:off x="9418320" y="164592"/>
            <a:ext cx="2773375" cy="91440"/>
          </a:xfrm>
          <a:custGeom>
            <a:avLst/>
            <a:gdLst/>
            <a:ahLst/>
            <a:cxnLst/>
            <a:rect l="l" t="t" r="r" b="b"/>
            <a:pathLst>
              <a:path w="2773375" h="91440">
                <a:moveTo>
                  <a:pt x="182880" y="0"/>
                </a:moveTo>
                <a:lnTo>
                  <a:pt x="2773375" y="0"/>
                </a:lnTo>
                <a:lnTo>
                  <a:pt x="2773375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1B365D"/>
          </a:solidFill>
          <a:ln w="0">
            <a:noFill/>
          </a:ln>
        </p:spPr>
      </p:sp>
      <p:sp>
        <p:nvSpPr>
          <p:cNvPr id="2" name="TextBox 1"/>
          <p:cNvSpPr txBox="1"/>
          <p:nvPr/>
        </p:nvSpPr>
        <p:spPr>
          <a:xfrm>
            <a:off x="8686800" y="320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B365D"/>
                </a:solidFill>
                <a:latin typeface="Montserrat"/>
              </a:rPr>
              <a:t>ANURAG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Montserrat"/>
              </a:rPr>
              <a:t>7/7/2026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66666"/>
                </a:solidFill>
                <a:latin typeface="Montserrat"/>
              </a:rPr>
              <a:t>Department of Information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Montserrat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73152" cy="5029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972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365D"/>
                </a:solidFill>
                <a:latin typeface="Montserrat"/>
              </a:rPr>
              <a:t>Project Timeline &amp; References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920240"/>
          <a:ext cx="9144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3716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Phase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Month 1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Month 2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Month 3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Month 4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Requirement Analysis &amp; Survey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System Design &amp; DB Schema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✓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Backend REST API Development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Socket.IO Event Handlers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✓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✓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Frontend Components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Integration &amp; Testing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✓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✓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Cloud Deployment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Documentation &amp; Reporting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D2D2D"/>
                          </a:solidFill>
                          <a:latin typeface="Montserrat"/>
                        </a:rPr>
                        <a:t>✓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120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</a:pPr>
            <a:r>
              <a:rPr sz="1400" b="1">
                <a:solidFill>
                  <a:srgbClr val="2D2D2D"/>
                </a:solidFill>
                <a:latin typeface="Montserrat"/>
              </a:rPr>
              <a:t>Key References: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94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100" b="1">
                <a:solidFill>
                  <a:srgbClr val="C00000"/>
                </a:solidFill>
                <a:latin typeface="Montserrat"/>
              </a:rPr>
              <a:t>▸  </a:t>
            </a:r>
            <a:r>
              <a:rPr sz="1100">
                <a:solidFill>
                  <a:srgbClr val="2D2D2D"/>
                </a:solidFill>
                <a:latin typeface="Montserrat"/>
              </a:rPr>
              <a:t>Patel &amp; Desai (2023) — MERN + Socket.IO Chat  •  Zhang et al. (2022) — WebSocket Performance</a:t>
            </a:r>
          </a:p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100" b="1">
                <a:solidFill>
                  <a:srgbClr val="C00000"/>
                </a:solidFill>
                <a:latin typeface="Montserrat"/>
              </a:rPr>
              <a:t>▸  </a:t>
            </a:r>
            <a:r>
              <a:rPr sz="1100">
                <a:solidFill>
                  <a:srgbClr val="2D2D2D"/>
                </a:solidFill>
                <a:latin typeface="Montserrat"/>
              </a:rPr>
              <a:t>Kumar &amp; Singh (2024) — JWT Security  •  Sharma &amp; Gupta (2025) — Group Messaging Architecture</a:t>
            </a:r>
          </a:p>
          <a:p>
            <a:pPr>
              <a:lnSpc>
                <a:spcPts val="2000"/>
              </a:lnSpc>
              <a:spcBef>
                <a:spcPts val="300"/>
              </a:spcBef>
              <a:spcAft>
                <a:spcPts val="600"/>
              </a:spcAft>
            </a:pPr>
            <a:r>
              <a:rPr sz="1100" b="1">
                <a:solidFill>
                  <a:srgbClr val="C00000"/>
                </a:solidFill>
                <a:latin typeface="Montserrat"/>
              </a:rPr>
              <a:t>▸  </a:t>
            </a:r>
            <a:r>
              <a:rPr sz="1100">
                <a:solidFill>
                  <a:srgbClr val="2D2D2D"/>
                </a:solidFill>
                <a:latin typeface="Montserrat"/>
              </a:rPr>
              <a:t>MongoDB Atlas Docs  •  React Docs  •  Express.js Docs  •  Socket.IO Docs  •  Cloudinary 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